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This project is about one simple question: where does TrendMart make money, and where does it quietly lose it? I will show you the problem, the dashboard I built to answer it, and what management can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simple words. TrendMart sells a lot across many stores and products. But management cannot easily see where the money is really made and where it is lost. High sales do not automatically mean high profit. Price cuts, product costs and returned items can quietly reduce profit. So the question is: where are we losing profit even though we are selling well, and which areas need attention? The four cards are the same as on the dashboard. Sales are Rs 92.27 lakh. Profit is Rs 18.01 lakh. The profit margin is 19.52%, which simply means we keep about Rs 19.50 out of every Rs 100 sold. And the average discount, or price cut, is 12.57%. The six items on the right are the six questions the dashboard answers, one chart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the question, I built an interactive Excel dashboard. First I cleaned the raw sales data, fixing duplicates, blanks and spelling mistakes. Then I worked out the profit and profit percentage of every sale. The dashboard has six charts, and each one answers one simple question. It also has two filters, Year and Discount, so anyone can click and explore. What did we find? First, smaller discounts work best. With no discount we keep about Rs 28 from every Rs 100 sold. With 30% off, we keep less than Rs 2. This is a pattern in the data; it does not prove that discount alone causes it. Second, why did sales and profit go down? Sales peaked in October 2024 at about Rs 11.8 lakh. From April 2025 there are only 11 to 22 orders a month, compared with 173 in March 2025. But the average order value stayed near Rs 3,000 and the average discount did not change. So the drop is about the number of orders, not the size of each order. The data cannot tell us why, so we should check whether it is a real slowdown or missing records. Third, returns. Only 146 of 3,000 orders, about 5%, were returned. But nearly 3 in 10 handbags come back. Returned orders are still counted in the sales and profit totals. Fourth, popular is not always profitable. Sarees sell the most, but Handbags make the most profit, and costs take about Rs 71 of every Rs 100 sold. Online and in-store earn almost the same profit per sale: online is about Rs 31.78 lakh of sales and in-store about Rs 60.49 lakh. Kerala is the biggest state at about Rs 25.6 lakh. The next step is to add customer and store-level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ideas for management to act on or look into. They are patterns in the data, not proven causes. One: limit big discounts. Orders with 25 to 30 percent off are nearly one in four, but bring only about 4.5% of profit. And 168 of the 179 sales made at a loss happen at these discount levels. Two: check handbag returns. Nearly 3 in 10 handbags are returned, against about 3 in 100 for other items. One sling bag, product PRD0043, has 51 of its 81 sales returned. The brand on that product is a jewellery brand, so the product record should also be checked. Three: focus on profitable categories. Accessories and Men's T-Shirts keep about Rs 30 to 33 from every Rs 100 sold, but are only about 5% of sales. Sarees, our biggest seller, keep Rs 18.50, and Men's Jeans keep only Rs 14.80. Four: confirm the drop in orders. Orders fell from 173 in March 2025 to 18 in April 2025, while the average order stayed near Rs 3,000. We need to check whether this is a real slowdown or missing records. Note that the data ends on 3 December 2025, so December is only a partial month. Five: grow online carefully. Online earns the same profit per sale as in-store, so it can grow under the same discount limits. Six: look closer at Kerala. It sells the most and gives the biggest discounts, and keeps slightly less profit per Rs 100 than Andhra Pradesh. The gap is small, so treat it as something to look into, not a conclusion. The key message: do not judge the business by sales alone. Look at sales and profit together.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E5E5"/>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A6A6A6"/>
          </a:solidFill>
          <a:ln w="12700">
            <a:solidFill>
              <a:srgbClr val="A6A6A6"/>
            </a:solidFill>
            <a:prstDash val="solid"/>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TrendMart: Are We Really Making Money?</a:t>
            </a:r>
            <a:endParaRPr lang="en-US" sz="3000" dirty="0"/>
          </a:p>
        </p:txBody>
      </p:sp>
      <p:sp>
        <p:nvSpPr>
          <p:cNvPr id="4" name="Shape 2"/>
          <p:cNvSpPr/>
          <p:nvPr/>
        </p:nvSpPr>
        <p:spPr>
          <a:xfrm>
            <a:off x="5410505" y="1600200"/>
            <a:ext cx="1371600" cy="1371600"/>
          </a:xfrm>
          <a:prstGeom prst="ellipse">
            <a:avLst/>
          </a:prstGeom>
          <a:solidFill>
            <a:srgbClr val="3972B9"/>
          </a:solidFill>
          <a:ln w="12700">
            <a:solidFill>
              <a:srgbClr val="3972B9"/>
            </a:solidFill>
            <a:prstDash val="solid"/>
          </a:ln>
        </p:spPr>
      </p:sp>
      <p:pic>
        <p:nvPicPr>
          <p:cNvPr id="5" name="Image 0" descr="preencoded.png">    </p:cNvPr>
          <p:cNvPicPr>
            <a:picLocks noChangeAspect="1"/>
          </p:cNvPicPr>
          <p:nvPr/>
        </p:nvPicPr>
        <p:blipFill>
          <a:blip r:embed="rId1"/>
          <a:stretch>
            <a:fillRect/>
          </a:stretch>
        </p:blipFill>
        <p:spPr>
          <a:xfrm>
            <a:off x="5753405" y="1943100"/>
            <a:ext cx="685800" cy="685800"/>
          </a:xfrm>
          <a:prstGeom prst="rect">
            <a:avLst/>
          </a:prstGeom>
        </p:spPr>
      </p:pic>
      <p:sp>
        <p:nvSpPr>
          <p:cNvPr id="6" name="Text 3"/>
          <p:cNvSpPr txBox="1"/>
          <p:nvPr/>
        </p:nvSpPr>
        <p:spPr>
          <a:xfrm>
            <a:off x="1280160" y="3246120"/>
            <a:ext cx="9628632" cy="640080"/>
          </a:xfrm>
          <a:prstGeom prst="rect">
            <a:avLst/>
          </a:prstGeom>
          <a:noFill/>
          <a:ln/>
        </p:spPr>
        <p:txBody>
          <a:bodyPr wrap="square" lIns="0" tIns="0" rIns="0" bIns="0" rtlCol="0" anchor="ctr"/>
          <a:lstStyle/>
          <a:p>
            <a:pPr algn="ctr" indent="0" marL="0">
              <a:buNone/>
            </a:pPr>
            <a:r>
              <a:rPr lang="en-US" sz="1500" i="1" dirty="0">
                <a:solidFill>
                  <a:srgbClr val="4D4D4D"/>
                </a:solidFill>
                <a:latin typeface="Calibri" pitchFamily="34" charset="0"/>
                <a:ea typeface="Calibri" pitchFamily="34" charset="-122"/>
                <a:cs typeface="Calibri" pitchFamily="34" charset="-120"/>
              </a:rPr>
              <a:t>TrendMart is a busy fashion retailer. This is a simple look at where it makes money — and where it quietly loses it.</a:t>
            </a:r>
            <a:endParaRPr lang="en-US" sz="1500" dirty="0"/>
          </a:p>
        </p:txBody>
      </p:sp>
      <p:sp>
        <p:nvSpPr>
          <p:cNvPr id="7" name="Shape 4"/>
          <p:cNvSpPr/>
          <p:nvPr/>
        </p:nvSpPr>
        <p:spPr>
          <a:xfrm>
            <a:off x="4837176" y="4114800"/>
            <a:ext cx="2514600" cy="658368"/>
          </a:xfrm>
          <a:prstGeom prst="roundRect">
            <a:avLst>
              <a:gd name="adj" fmla="val 13889"/>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8" name="Text 5"/>
          <p:cNvSpPr txBox="1"/>
          <p:nvPr/>
        </p:nvSpPr>
        <p:spPr>
          <a:xfrm>
            <a:off x="4837176" y="4114800"/>
            <a:ext cx="2514600" cy="658368"/>
          </a:xfrm>
          <a:prstGeom prst="rect">
            <a:avLst/>
          </a:prstGeom>
          <a:noFill/>
          <a:ln/>
        </p:spPr>
        <p:txBody>
          <a:bodyPr wrap="square" lIns="0" tIns="0" rIns="0" bIns="0" rtlCol="0" anchor="ctr"/>
          <a:lstStyle/>
          <a:p>
            <a:pPr algn="ctr" indent="0" marL="0">
              <a:buNone/>
            </a:pPr>
            <a:r>
              <a:rPr lang="en-US" sz="1400" b="1" dirty="0">
                <a:solidFill>
                  <a:srgbClr val="3972B9"/>
                </a:solidFill>
                <a:latin typeface="Calibri" pitchFamily="34" charset="0"/>
                <a:ea typeface="Calibri" pitchFamily="34" charset="-122"/>
                <a:cs typeface="Calibri" pitchFamily="34" charset="-120"/>
              </a:rPr>
              <a:t>Presented by Keerthana</a:t>
            </a:r>
            <a:endParaRPr lang="en-US" sz="1400" dirty="0"/>
          </a:p>
        </p:txBody>
      </p:sp>
      <p:sp>
        <p:nvSpPr>
          <p:cNvPr id="9" name="Text 6"/>
          <p:cNvSpPr txBox="1"/>
          <p:nvPr/>
        </p:nvSpPr>
        <p:spPr>
          <a:xfrm>
            <a:off x="1280160" y="5212080"/>
            <a:ext cx="9628632" cy="457200"/>
          </a:xfrm>
          <a:prstGeom prst="rect">
            <a:avLst/>
          </a:prstGeom>
          <a:noFill/>
          <a:ln/>
        </p:spPr>
        <p:txBody>
          <a:bodyPr wrap="square" lIns="0" tIns="0" rIns="0" bIns="0" rtlCol="0" anchor="ctr"/>
          <a:lstStyle/>
          <a:p>
            <a:pPr algn="ctr" indent="0" marL="0">
              <a:buNone/>
            </a:pPr>
            <a:r>
              <a:rPr lang="en-US" sz="1400" dirty="0">
                <a:solidFill>
                  <a:srgbClr val="4D4D4D"/>
                </a:solidFill>
                <a:latin typeface="Calibri" pitchFamily="34" charset="0"/>
                <a:ea typeface="Calibri" pitchFamily="34" charset="-122"/>
                <a:cs typeface="Calibri" pitchFamily="34" charset="-120"/>
              </a:rPr>
              <a:t>The Problem  →  What We Built  →  What To Do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E5E5"/>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A6A6A6"/>
          </a:solidFill>
          <a:ln w="12700">
            <a:solidFill>
              <a:srgbClr val="A6A6A6"/>
            </a:solidFill>
            <a:prstDash val="solid"/>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The Business Problem</a:t>
            </a:r>
            <a:endParaRPr lang="en-US" sz="3000" dirty="0"/>
          </a:p>
        </p:txBody>
      </p:sp>
      <p:sp>
        <p:nvSpPr>
          <p:cNvPr id="4" name="Shape 2"/>
          <p:cNvSpPr/>
          <p:nvPr/>
        </p:nvSpPr>
        <p:spPr>
          <a:xfrm>
            <a:off x="548640" y="1325880"/>
            <a:ext cx="6583680" cy="1691640"/>
          </a:xfrm>
          <a:prstGeom prst="roundRect">
            <a:avLst>
              <a:gd name="adj" fmla="val 540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5" name="Shape 3"/>
          <p:cNvSpPr/>
          <p:nvPr/>
        </p:nvSpPr>
        <p:spPr>
          <a:xfrm>
            <a:off x="822960" y="1645920"/>
            <a:ext cx="1051560" cy="1051560"/>
          </a:xfrm>
          <a:prstGeom prst="ellipse">
            <a:avLst/>
          </a:prstGeom>
          <a:solidFill>
            <a:srgbClr val="CB403C"/>
          </a:solidFill>
          <a:ln w="12700">
            <a:solidFill>
              <a:srgbClr val="CB403C"/>
            </a:solidFill>
            <a:prstDash val="solid"/>
          </a:ln>
        </p:spPr>
      </p:sp>
      <p:pic>
        <p:nvPicPr>
          <p:cNvPr id="6" name="Image 0" descr="preencoded.png">    </p:cNvPr>
          <p:cNvPicPr>
            <a:picLocks noChangeAspect="1"/>
          </p:cNvPicPr>
          <p:nvPr/>
        </p:nvPicPr>
        <p:blipFill>
          <a:blip r:embed="rId1"/>
          <a:stretch>
            <a:fillRect/>
          </a:stretch>
        </p:blipFill>
        <p:spPr>
          <a:xfrm>
            <a:off x="1085850" y="1908810"/>
            <a:ext cx="525780" cy="525780"/>
          </a:xfrm>
          <a:prstGeom prst="rect">
            <a:avLst/>
          </a:prstGeom>
        </p:spPr>
      </p:pic>
      <p:sp>
        <p:nvSpPr>
          <p:cNvPr id="7" name="Text 4"/>
          <p:cNvSpPr txBox="1"/>
          <p:nvPr/>
        </p:nvSpPr>
        <p:spPr>
          <a:xfrm>
            <a:off x="2057400" y="1481328"/>
            <a:ext cx="493776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Selling a lot is not the same as earning a lot</a:t>
            </a:r>
            <a:endParaRPr lang="en-US" sz="1500" dirty="0"/>
          </a:p>
        </p:txBody>
      </p:sp>
      <p:sp>
        <p:nvSpPr>
          <p:cNvPr id="8" name="Text 5"/>
          <p:cNvSpPr txBox="1"/>
          <p:nvPr/>
        </p:nvSpPr>
        <p:spPr>
          <a:xfrm>
            <a:off x="2057400" y="1901952"/>
            <a:ext cx="4937760" cy="1051560"/>
          </a:xfrm>
          <a:prstGeom prst="rect">
            <a:avLst/>
          </a:prstGeom>
          <a:noFill/>
          <a:ln/>
        </p:spPr>
        <p:txBody>
          <a:bodyPr wrap="square" lIns="0" tIns="0" rIns="0" bIns="0" rtlCol="0" anchor="t"/>
          <a:lstStyle/>
          <a:p>
            <a:pPr indent="0" marL="0">
              <a:buNone/>
            </a:pPr>
            <a:r>
              <a:rPr lang="en-US" sz="1400" dirty="0">
                <a:solidFill>
                  <a:srgbClr val="4D4D4D"/>
                </a:solidFill>
                <a:latin typeface="Calibri" pitchFamily="34" charset="0"/>
                <a:ea typeface="Calibri" pitchFamily="34" charset="-122"/>
                <a:cs typeface="Calibri" pitchFamily="34" charset="-120"/>
              </a:rPr>
              <a:t>TrendMart sells across many stores and products, but nobody can easily see where the money is really made or lost. Price cuts (discounts), product costs and returned items can quietly eat the profit.</a:t>
            </a:r>
            <a:endParaRPr lang="en-US" sz="1400" dirty="0"/>
          </a:p>
        </p:txBody>
      </p:sp>
      <p:sp>
        <p:nvSpPr>
          <p:cNvPr id="9" name="Shape 6"/>
          <p:cNvSpPr/>
          <p:nvPr/>
        </p:nvSpPr>
        <p:spPr>
          <a:xfrm>
            <a:off x="548640" y="3246120"/>
            <a:ext cx="6583680" cy="1325880"/>
          </a:xfrm>
          <a:prstGeom prst="roundRect">
            <a:avLst>
              <a:gd name="adj" fmla="val 6897"/>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10" name="Text 7"/>
          <p:cNvSpPr txBox="1"/>
          <p:nvPr/>
        </p:nvSpPr>
        <p:spPr>
          <a:xfrm>
            <a:off x="868680" y="3337560"/>
            <a:ext cx="5943600" cy="777240"/>
          </a:xfrm>
          <a:prstGeom prst="rect">
            <a:avLst/>
          </a:prstGeom>
          <a:noFill/>
          <a:ln/>
        </p:spPr>
        <p:txBody>
          <a:bodyPr wrap="square" lIns="0" tIns="0" rIns="0" bIns="0" rtlCol="0" anchor="ctr"/>
          <a:lstStyle/>
          <a:p>
            <a:pPr indent="0" marL="0">
              <a:buNone/>
            </a:pPr>
            <a:r>
              <a:rPr lang="en-US" sz="1600" b="1" i="1" dirty="0">
                <a:solidFill>
                  <a:srgbClr val="3972B9"/>
                </a:solidFill>
                <a:latin typeface="Calibri" pitchFamily="34" charset="0"/>
                <a:ea typeface="Calibri" pitchFamily="34" charset="-122"/>
                <a:cs typeface="Calibri" pitchFamily="34" charset="-120"/>
              </a:rPr>
              <a:t>“Where are we losing profit even though we are selling well — and which areas need attention?”</a:t>
            </a:r>
            <a:endParaRPr lang="en-US" sz="1600" dirty="0"/>
          </a:p>
        </p:txBody>
      </p:sp>
      <p:sp>
        <p:nvSpPr>
          <p:cNvPr id="11" name="Text 8"/>
          <p:cNvSpPr txBox="1"/>
          <p:nvPr/>
        </p:nvSpPr>
        <p:spPr>
          <a:xfrm>
            <a:off x="868680" y="4160520"/>
            <a:ext cx="5943600" cy="274320"/>
          </a:xfrm>
          <a:prstGeom prst="rect">
            <a:avLst/>
          </a:prstGeom>
          <a:noFill/>
          <a:ln/>
        </p:spPr>
        <p:txBody>
          <a:bodyPr wrap="square" lIns="0" tIns="0" rIns="0" bIns="0" rtlCol="0" anchor="ctr"/>
          <a:lstStyle/>
          <a:p>
            <a:pPr indent="0" marL="0">
              <a:buNone/>
            </a:pPr>
            <a:r>
              <a:rPr lang="en-US" sz="1200" dirty="0">
                <a:solidFill>
                  <a:srgbClr val="4D4D4D"/>
                </a:solidFill>
                <a:latin typeface="Calibri" pitchFamily="34" charset="0"/>
                <a:ea typeface="Calibri" pitchFamily="34" charset="-122"/>
                <a:cs typeface="Calibri" pitchFamily="34" charset="-120"/>
              </a:rPr>
              <a:t>The question this project answers</a:t>
            </a:r>
            <a:endParaRPr lang="en-US" sz="1200" dirty="0"/>
          </a:p>
        </p:txBody>
      </p:sp>
      <p:sp>
        <p:nvSpPr>
          <p:cNvPr id="12" name="Text 9"/>
          <p:cNvSpPr txBox="1"/>
          <p:nvPr/>
        </p:nvSpPr>
        <p:spPr>
          <a:xfrm>
            <a:off x="7360920" y="1325880"/>
            <a:ext cx="4251960" cy="36576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What We Looked At</a:t>
            </a:r>
            <a:endParaRPr lang="en-US" sz="1500" dirty="0"/>
          </a:p>
        </p:txBody>
      </p:sp>
      <p:sp>
        <p:nvSpPr>
          <p:cNvPr id="13" name="Shape 10"/>
          <p:cNvSpPr/>
          <p:nvPr/>
        </p:nvSpPr>
        <p:spPr>
          <a:xfrm>
            <a:off x="7360920" y="1783080"/>
            <a:ext cx="384048" cy="384048"/>
          </a:xfrm>
          <a:prstGeom prst="ellipse">
            <a:avLst/>
          </a:prstGeom>
          <a:solidFill>
            <a:srgbClr val="3972B9"/>
          </a:solidFill>
          <a:ln w="12700">
            <a:solidFill>
              <a:srgbClr val="3972B9"/>
            </a:solidFill>
            <a:prstDash val="solid"/>
          </a:ln>
        </p:spPr>
      </p:sp>
      <p:pic>
        <p:nvPicPr>
          <p:cNvPr id="14" name="Image 1" descr="preencoded.png">    </p:cNvPr>
          <p:cNvPicPr>
            <a:picLocks noChangeAspect="1"/>
          </p:cNvPicPr>
          <p:nvPr/>
        </p:nvPicPr>
        <p:blipFill>
          <a:blip r:embed="rId2"/>
          <a:stretch>
            <a:fillRect/>
          </a:stretch>
        </p:blipFill>
        <p:spPr>
          <a:xfrm>
            <a:off x="7456932" y="1879092"/>
            <a:ext cx="192024" cy="192024"/>
          </a:xfrm>
          <a:prstGeom prst="rect">
            <a:avLst/>
          </a:prstGeom>
        </p:spPr>
      </p:pic>
      <p:sp>
        <p:nvSpPr>
          <p:cNvPr id="15" name="Text 11"/>
          <p:cNvSpPr txBox="1"/>
          <p:nvPr/>
        </p:nvSpPr>
        <p:spPr>
          <a:xfrm>
            <a:off x="7909560" y="17830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Why sales and profit went down</a:t>
            </a:r>
            <a:endParaRPr lang="en-US" sz="1400" dirty="0"/>
          </a:p>
        </p:txBody>
      </p:sp>
      <p:sp>
        <p:nvSpPr>
          <p:cNvPr id="16" name="Shape 12"/>
          <p:cNvSpPr/>
          <p:nvPr/>
        </p:nvSpPr>
        <p:spPr>
          <a:xfrm>
            <a:off x="7360920" y="2240280"/>
            <a:ext cx="384048" cy="384048"/>
          </a:xfrm>
          <a:prstGeom prst="ellipse">
            <a:avLst/>
          </a:prstGeom>
          <a:solidFill>
            <a:srgbClr val="3972B9"/>
          </a:solidFill>
          <a:ln w="12700">
            <a:solidFill>
              <a:srgbClr val="3972B9"/>
            </a:solidFill>
            <a:prstDash val="solid"/>
          </a:ln>
        </p:spPr>
      </p:sp>
      <p:pic>
        <p:nvPicPr>
          <p:cNvPr id="17" name="Image 2" descr="preencoded.png">    </p:cNvPr>
          <p:cNvPicPr>
            <a:picLocks noChangeAspect="1"/>
          </p:cNvPicPr>
          <p:nvPr/>
        </p:nvPicPr>
        <p:blipFill>
          <a:blip r:embed="rId3"/>
          <a:stretch>
            <a:fillRect/>
          </a:stretch>
        </p:blipFill>
        <p:spPr>
          <a:xfrm>
            <a:off x="7456932" y="2336292"/>
            <a:ext cx="192024" cy="192024"/>
          </a:xfrm>
          <a:prstGeom prst="rect">
            <a:avLst/>
          </a:prstGeom>
        </p:spPr>
      </p:pic>
      <p:sp>
        <p:nvSpPr>
          <p:cNvPr id="18" name="Text 13"/>
          <p:cNvSpPr txBox="1"/>
          <p:nvPr/>
        </p:nvSpPr>
        <p:spPr>
          <a:xfrm>
            <a:off x="7909560" y="22402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Which discount works best</a:t>
            </a:r>
            <a:endParaRPr lang="en-US" sz="1400" dirty="0"/>
          </a:p>
        </p:txBody>
      </p:sp>
      <p:sp>
        <p:nvSpPr>
          <p:cNvPr id="19" name="Shape 14"/>
          <p:cNvSpPr/>
          <p:nvPr/>
        </p:nvSpPr>
        <p:spPr>
          <a:xfrm>
            <a:off x="7360920" y="2697480"/>
            <a:ext cx="384048" cy="384048"/>
          </a:xfrm>
          <a:prstGeom prst="ellipse">
            <a:avLst/>
          </a:prstGeom>
          <a:solidFill>
            <a:srgbClr val="3972B9"/>
          </a:solidFill>
          <a:ln w="12700">
            <a:solidFill>
              <a:srgbClr val="3972B9"/>
            </a:solidFill>
            <a:prstDash val="solid"/>
          </a:ln>
        </p:spPr>
      </p:sp>
      <p:pic>
        <p:nvPicPr>
          <p:cNvPr id="20" name="Image 3" descr="preencoded.png">    </p:cNvPr>
          <p:cNvPicPr>
            <a:picLocks noChangeAspect="1"/>
          </p:cNvPicPr>
          <p:nvPr/>
        </p:nvPicPr>
        <p:blipFill>
          <a:blip r:embed="rId4"/>
          <a:stretch>
            <a:fillRect/>
          </a:stretch>
        </p:blipFill>
        <p:spPr>
          <a:xfrm>
            <a:off x="7456932" y="2793492"/>
            <a:ext cx="192024" cy="192024"/>
          </a:xfrm>
          <a:prstGeom prst="rect">
            <a:avLst/>
          </a:prstGeom>
        </p:spPr>
      </p:pic>
      <p:sp>
        <p:nvSpPr>
          <p:cNvPr id="21" name="Text 15"/>
          <p:cNvSpPr txBox="1"/>
          <p:nvPr/>
        </p:nvSpPr>
        <p:spPr>
          <a:xfrm>
            <a:off x="7909560" y="26974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How many orders were returned</a:t>
            </a:r>
            <a:endParaRPr lang="en-US" sz="1400" dirty="0"/>
          </a:p>
        </p:txBody>
      </p:sp>
      <p:sp>
        <p:nvSpPr>
          <p:cNvPr id="22" name="Shape 16"/>
          <p:cNvSpPr/>
          <p:nvPr/>
        </p:nvSpPr>
        <p:spPr>
          <a:xfrm>
            <a:off x="7360920" y="3154680"/>
            <a:ext cx="384048" cy="384048"/>
          </a:xfrm>
          <a:prstGeom prst="ellipse">
            <a:avLst/>
          </a:prstGeom>
          <a:solidFill>
            <a:srgbClr val="3972B9"/>
          </a:solidFill>
          <a:ln w="12700">
            <a:solidFill>
              <a:srgbClr val="3972B9"/>
            </a:solidFill>
            <a:prstDash val="solid"/>
          </a:ln>
        </p:spPr>
      </p:sp>
      <p:pic>
        <p:nvPicPr>
          <p:cNvPr id="23" name="Image 4" descr="preencoded.png">    </p:cNvPr>
          <p:cNvPicPr>
            <a:picLocks noChangeAspect="1"/>
          </p:cNvPicPr>
          <p:nvPr/>
        </p:nvPicPr>
        <p:blipFill>
          <a:blip r:embed="rId5"/>
          <a:stretch>
            <a:fillRect/>
          </a:stretch>
        </p:blipFill>
        <p:spPr>
          <a:xfrm>
            <a:off x="7456932" y="3250692"/>
            <a:ext cx="192024" cy="192024"/>
          </a:xfrm>
          <a:prstGeom prst="rect">
            <a:avLst/>
          </a:prstGeom>
        </p:spPr>
      </p:pic>
      <p:sp>
        <p:nvSpPr>
          <p:cNvPr id="24" name="Text 17"/>
          <p:cNvSpPr txBox="1"/>
          <p:nvPr/>
        </p:nvSpPr>
        <p:spPr>
          <a:xfrm>
            <a:off x="7909560" y="31546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Online or in-store: who wins</a:t>
            </a:r>
            <a:endParaRPr lang="en-US" sz="1400" dirty="0"/>
          </a:p>
        </p:txBody>
      </p:sp>
      <p:sp>
        <p:nvSpPr>
          <p:cNvPr id="25" name="Shape 18"/>
          <p:cNvSpPr/>
          <p:nvPr/>
        </p:nvSpPr>
        <p:spPr>
          <a:xfrm>
            <a:off x="7360920" y="3611880"/>
            <a:ext cx="384048" cy="384048"/>
          </a:xfrm>
          <a:prstGeom prst="ellipse">
            <a:avLst/>
          </a:prstGeom>
          <a:solidFill>
            <a:srgbClr val="3972B9"/>
          </a:solidFill>
          <a:ln w="12700">
            <a:solidFill>
              <a:srgbClr val="3972B9"/>
            </a:solidFill>
            <a:prstDash val="solid"/>
          </a:ln>
        </p:spPr>
      </p:sp>
      <p:pic>
        <p:nvPicPr>
          <p:cNvPr id="26" name="Image 5" descr="preencoded.png">    </p:cNvPr>
          <p:cNvPicPr>
            <a:picLocks noChangeAspect="1"/>
          </p:cNvPicPr>
          <p:nvPr/>
        </p:nvPicPr>
        <p:blipFill>
          <a:blip r:embed="rId6"/>
          <a:stretch>
            <a:fillRect/>
          </a:stretch>
        </p:blipFill>
        <p:spPr>
          <a:xfrm>
            <a:off x="7456932" y="3707892"/>
            <a:ext cx="192024" cy="192024"/>
          </a:xfrm>
          <a:prstGeom prst="rect">
            <a:avLst/>
          </a:prstGeom>
        </p:spPr>
      </p:pic>
      <p:sp>
        <p:nvSpPr>
          <p:cNvPr id="27" name="Text 19"/>
          <p:cNvSpPr txBox="1"/>
          <p:nvPr/>
        </p:nvSpPr>
        <p:spPr>
          <a:xfrm>
            <a:off x="7909560" y="36118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Which cities perform best</a:t>
            </a:r>
            <a:endParaRPr lang="en-US" sz="1400" dirty="0"/>
          </a:p>
        </p:txBody>
      </p:sp>
      <p:sp>
        <p:nvSpPr>
          <p:cNvPr id="28" name="Shape 20"/>
          <p:cNvSpPr/>
          <p:nvPr/>
        </p:nvSpPr>
        <p:spPr>
          <a:xfrm>
            <a:off x="7360920" y="4069080"/>
            <a:ext cx="384048" cy="384048"/>
          </a:xfrm>
          <a:prstGeom prst="ellipse">
            <a:avLst/>
          </a:prstGeom>
          <a:solidFill>
            <a:srgbClr val="3972B9"/>
          </a:solidFill>
          <a:ln w="12700">
            <a:solidFill>
              <a:srgbClr val="3972B9"/>
            </a:solidFill>
            <a:prstDash val="solid"/>
          </a:ln>
        </p:spPr>
      </p:sp>
      <p:pic>
        <p:nvPicPr>
          <p:cNvPr id="29" name="Image 6" descr="preencoded.png">    </p:cNvPr>
          <p:cNvPicPr>
            <a:picLocks noChangeAspect="1"/>
          </p:cNvPicPr>
          <p:nvPr/>
        </p:nvPicPr>
        <p:blipFill>
          <a:blip r:embed="rId7"/>
          <a:stretch>
            <a:fillRect/>
          </a:stretch>
        </p:blipFill>
        <p:spPr>
          <a:xfrm>
            <a:off x="7456932" y="4165092"/>
            <a:ext cx="192024" cy="192024"/>
          </a:xfrm>
          <a:prstGeom prst="rect">
            <a:avLst/>
          </a:prstGeom>
        </p:spPr>
      </p:pic>
      <p:sp>
        <p:nvSpPr>
          <p:cNvPr id="30" name="Text 21"/>
          <p:cNvSpPr txBox="1"/>
          <p:nvPr/>
        </p:nvSpPr>
        <p:spPr>
          <a:xfrm>
            <a:off x="7909560" y="4069080"/>
            <a:ext cx="3703320" cy="384048"/>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How each product type performs</a:t>
            </a:r>
            <a:endParaRPr lang="en-US" sz="1400" dirty="0"/>
          </a:p>
        </p:txBody>
      </p:sp>
      <p:sp>
        <p:nvSpPr>
          <p:cNvPr id="31" name="Shape 22"/>
          <p:cNvSpPr/>
          <p:nvPr/>
        </p:nvSpPr>
        <p:spPr>
          <a:xfrm>
            <a:off x="548640" y="4846320"/>
            <a:ext cx="2601468" cy="1371600"/>
          </a:xfrm>
          <a:prstGeom prst="roundRect">
            <a:avLst>
              <a:gd name="adj" fmla="val 6667"/>
            </a:avLst>
          </a:prstGeom>
          <a:solidFill>
            <a:srgbClr val="A6A6A6"/>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32" name="Text 23"/>
          <p:cNvSpPr txBox="1"/>
          <p:nvPr/>
        </p:nvSpPr>
        <p:spPr>
          <a:xfrm>
            <a:off x="548640" y="4937760"/>
            <a:ext cx="2601468" cy="530352"/>
          </a:xfrm>
          <a:prstGeom prst="rect">
            <a:avLst/>
          </a:prstGeom>
          <a:noFill/>
          <a:ln/>
        </p:spPr>
        <p:txBody>
          <a:bodyPr wrap="square" lIns="0" tIns="0" rIns="0" bIns="0" rtlCol="0" anchor="ctr"/>
          <a:lstStyle/>
          <a:p>
            <a:pPr algn="ctr" indent="0" marL="0">
              <a:buNone/>
            </a:pPr>
            <a:r>
              <a:rPr lang="en-US" sz="2800" b="1" dirty="0">
                <a:solidFill>
                  <a:srgbClr val="000000"/>
                </a:solidFill>
                <a:latin typeface="Cambria" pitchFamily="34" charset="0"/>
                <a:ea typeface="Cambria" pitchFamily="34" charset="-122"/>
                <a:cs typeface="Cambria" pitchFamily="34" charset="-120"/>
              </a:rPr>
              <a:t>₹92.27L</a:t>
            </a:r>
            <a:endParaRPr lang="en-US" sz="2800" dirty="0"/>
          </a:p>
        </p:txBody>
      </p:sp>
      <p:sp>
        <p:nvSpPr>
          <p:cNvPr id="33" name="Text 24"/>
          <p:cNvSpPr txBox="1"/>
          <p:nvPr/>
        </p:nvSpPr>
        <p:spPr>
          <a:xfrm>
            <a:off x="548640" y="5486400"/>
            <a:ext cx="2601468"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Total Sales</a:t>
            </a:r>
            <a:endParaRPr lang="en-US" sz="1500" dirty="0"/>
          </a:p>
        </p:txBody>
      </p:sp>
      <p:sp>
        <p:nvSpPr>
          <p:cNvPr id="34" name="Text 25"/>
          <p:cNvSpPr txBox="1"/>
          <p:nvPr/>
        </p:nvSpPr>
        <p:spPr>
          <a:xfrm>
            <a:off x="548640" y="5797296"/>
            <a:ext cx="2601468" cy="27432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Money customers paid us</a:t>
            </a:r>
            <a:endParaRPr lang="en-US" sz="1200" dirty="0"/>
          </a:p>
        </p:txBody>
      </p:sp>
      <p:sp>
        <p:nvSpPr>
          <p:cNvPr id="35" name="Shape 26"/>
          <p:cNvSpPr/>
          <p:nvPr/>
        </p:nvSpPr>
        <p:spPr>
          <a:xfrm>
            <a:off x="3378708" y="4846320"/>
            <a:ext cx="2601468" cy="1371600"/>
          </a:xfrm>
          <a:prstGeom prst="roundRect">
            <a:avLst>
              <a:gd name="adj" fmla="val 6667"/>
            </a:avLst>
          </a:prstGeom>
          <a:solidFill>
            <a:srgbClr val="A6A6A6"/>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36" name="Text 27"/>
          <p:cNvSpPr txBox="1"/>
          <p:nvPr/>
        </p:nvSpPr>
        <p:spPr>
          <a:xfrm>
            <a:off x="3378708" y="4937760"/>
            <a:ext cx="2601468" cy="530352"/>
          </a:xfrm>
          <a:prstGeom prst="rect">
            <a:avLst/>
          </a:prstGeom>
          <a:noFill/>
          <a:ln/>
        </p:spPr>
        <p:txBody>
          <a:bodyPr wrap="square" lIns="0" tIns="0" rIns="0" bIns="0" rtlCol="0" anchor="ctr"/>
          <a:lstStyle/>
          <a:p>
            <a:pPr algn="ctr" indent="0" marL="0">
              <a:buNone/>
            </a:pPr>
            <a:r>
              <a:rPr lang="en-US" sz="2800" b="1" dirty="0">
                <a:solidFill>
                  <a:srgbClr val="000000"/>
                </a:solidFill>
                <a:latin typeface="Cambria" pitchFamily="34" charset="0"/>
                <a:ea typeface="Cambria" pitchFamily="34" charset="-122"/>
                <a:cs typeface="Cambria" pitchFamily="34" charset="-120"/>
              </a:rPr>
              <a:t>₹18.01L</a:t>
            </a:r>
            <a:endParaRPr lang="en-US" sz="2800" dirty="0"/>
          </a:p>
        </p:txBody>
      </p:sp>
      <p:sp>
        <p:nvSpPr>
          <p:cNvPr id="37" name="Text 28"/>
          <p:cNvSpPr txBox="1"/>
          <p:nvPr/>
        </p:nvSpPr>
        <p:spPr>
          <a:xfrm>
            <a:off x="3378708" y="5486400"/>
            <a:ext cx="2601468"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Total Profit</a:t>
            </a:r>
            <a:endParaRPr lang="en-US" sz="1500" dirty="0"/>
          </a:p>
        </p:txBody>
      </p:sp>
      <p:sp>
        <p:nvSpPr>
          <p:cNvPr id="38" name="Text 29"/>
          <p:cNvSpPr txBox="1"/>
          <p:nvPr/>
        </p:nvSpPr>
        <p:spPr>
          <a:xfrm>
            <a:off x="3378708" y="5797296"/>
            <a:ext cx="2601468" cy="27432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Money left after costs</a:t>
            </a:r>
            <a:endParaRPr lang="en-US" sz="1200" dirty="0"/>
          </a:p>
        </p:txBody>
      </p:sp>
      <p:sp>
        <p:nvSpPr>
          <p:cNvPr id="39" name="Shape 30"/>
          <p:cNvSpPr/>
          <p:nvPr/>
        </p:nvSpPr>
        <p:spPr>
          <a:xfrm>
            <a:off x="6208776" y="4846320"/>
            <a:ext cx="2601468" cy="1371600"/>
          </a:xfrm>
          <a:prstGeom prst="roundRect">
            <a:avLst>
              <a:gd name="adj" fmla="val 6667"/>
            </a:avLst>
          </a:prstGeom>
          <a:solidFill>
            <a:srgbClr val="A6A6A6"/>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40" name="Text 31"/>
          <p:cNvSpPr txBox="1"/>
          <p:nvPr/>
        </p:nvSpPr>
        <p:spPr>
          <a:xfrm>
            <a:off x="6208776" y="4937760"/>
            <a:ext cx="2601468" cy="530352"/>
          </a:xfrm>
          <a:prstGeom prst="rect">
            <a:avLst/>
          </a:prstGeom>
          <a:noFill/>
          <a:ln/>
        </p:spPr>
        <p:txBody>
          <a:bodyPr wrap="square" lIns="0" tIns="0" rIns="0" bIns="0" rtlCol="0" anchor="ctr"/>
          <a:lstStyle/>
          <a:p>
            <a:pPr algn="ctr" indent="0" marL="0">
              <a:buNone/>
            </a:pPr>
            <a:r>
              <a:rPr lang="en-US" sz="2800" b="1" dirty="0">
                <a:solidFill>
                  <a:srgbClr val="000000"/>
                </a:solidFill>
                <a:latin typeface="Cambria" pitchFamily="34" charset="0"/>
                <a:ea typeface="Cambria" pitchFamily="34" charset="-122"/>
                <a:cs typeface="Cambria" pitchFamily="34" charset="-120"/>
              </a:rPr>
              <a:t>19.52%</a:t>
            </a:r>
            <a:endParaRPr lang="en-US" sz="2800" dirty="0"/>
          </a:p>
        </p:txBody>
      </p:sp>
      <p:sp>
        <p:nvSpPr>
          <p:cNvPr id="41" name="Text 32"/>
          <p:cNvSpPr txBox="1"/>
          <p:nvPr/>
        </p:nvSpPr>
        <p:spPr>
          <a:xfrm>
            <a:off x="6208776" y="5486400"/>
            <a:ext cx="2601468"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Profit Margin</a:t>
            </a:r>
            <a:endParaRPr lang="en-US" sz="1500" dirty="0"/>
          </a:p>
        </p:txBody>
      </p:sp>
      <p:sp>
        <p:nvSpPr>
          <p:cNvPr id="42" name="Text 33"/>
          <p:cNvSpPr txBox="1"/>
          <p:nvPr/>
        </p:nvSpPr>
        <p:spPr>
          <a:xfrm>
            <a:off x="6208776" y="5797296"/>
            <a:ext cx="2601468" cy="27432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Profit kept from every ₹100 sold</a:t>
            </a:r>
            <a:endParaRPr lang="en-US" sz="1200" dirty="0"/>
          </a:p>
        </p:txBody>
      </p:sp>
      <p:sp>
        <p:nvSpPr>
          <p:cNvPr id="43" name="Shape 34"/>
          <p:cNvSpPr/>
          <p:nvPr/>
        </p:nvSpPr>
        <p:spPr>
          <a:xfrm>
            <a:off x="9038844" y="4846320"/>
            <a:ext cx="2601468" cy="1371600"/>
          </a:xfrm>
          <a:prstGeom prst="roundRect">
            <a:avLst>
              <a:gd name="adj" fmla="val 6667"/>
            </a:avLst>
          </a:prstGeom>
          <a:solidFill>
            <a:srgbClr val="A6A6A6"/>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44" name="Text 35"/>
          <p:cNvSpPr txBox="1"/>
          <p:nvPr/>
        </p:nvSpPr>
        <p:spPr>
          <a:xfrm>
            <a:off x="9038844" y="4937760"/>
            <a:ext cx="2601468" cy="530352"/>
          </a:xfrm>
          <a:prstGeom prst="rect">
            <a:avLst/>
          </a:prstGeom>
          <a:noFill/>
          <a:ln/>
        </p:spPr>
        <p:txBody>
          <a:bodyPr wrap="square" lIns="0" tIns="0" rIns="0" bIns="0" rtlCol="0" anchor="ctr"/>
          <a:lstStyle/>
          <a:p>
            <a:pPr algn="ctr" indent="0" marL="0">
              <a:buNone/>
            </a:pPr>
            <a:r>
              <a:rPr lang="en-US" sz="2800" b="1" dirty="0">
                <a:solidFill>
                  <a:srgbClr val="000000"/>
                </a:solidFill>
                <a:latin typeface="Cambria" pitchFamily="34" charset="0"/>
                <a:ea typeface="Cambria" pitchFamily="34" charset="-122"/>
                <a:cs typeface="Cambria" pitchFamily="34" charset="-120"/>
              </a:rPr>
              <a:t>12.57%</a:t>
            </a:r>
            <a:endParaRPr lang="en-US" sz="2800" dirty="0"/>
          </a:p>
        </p:txBody>
      </p:sp>
      <p:sp>
        <p:nvSpPr>
          <p:cNvPr id="45" name="Text 36"/>
          <p:cNvSpPr txBox="1"/>
          <p:nvPr/>
        </p:nvSpPr>
        <p:spPr>
          <a:xfrm>
            <a:off x="9038844" y="5486400"/>
            <a:ext cx="2601468" cy="292608"/>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Average Discount</a:t>
            </a:r>
            <a:endParaRPr lang="en-US" sz="1500" dirty="0"/>
          </a:p>
        </p:txBody>
      </p:sp>
      <p:sp>
        <p:nvSpPr>
          <p:cNvPr id="46" name="Text 37"/>
          <p:cNvSpPr txBox="1"/>
          <p:nvPr/>
        </p:nvSpPr>
        <p:spPr>
          <a:xfrm>
            <a:off x="9038844" y="5797296"/>
            <a:ext cx="2601468" cy="27432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Average price cut we give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E5E5"/>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A6A6A6"/>
          </a:solidFill>
          <a:ln w="12700">
            <a:solidFill>
              <a:srgbClr val="A6A6A6"/>
            </a:solidFill>
            <a:prstDash val="solid"/>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The Solution: A Simple Excel Dashboard</a:t>
            </a:r>
            <a:endParaRPr lang="en-US" sz="3000" dirty="0"/>
          </a:p>
        </p:txBody>
      </p:sp>
      <p:sp>
        <p:nvSpPr>
          <p:cNvPr id="4" name="Shape 2"/>
          <p:cNvSpPr/>
          <p:nvPr/>
        </p:nvSpPr>
        <p:spPr>
          <a:xfrm>
            <a:off x="548640" y="1325880"/>
            <a:ext cx="7040880" cy="3017520"/>
          </a:xfrm>
          <a:prstGeom prst="roundRect">
            <a:avLst>
              <a:gd name="adj" fmla="val 3030"/>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pic>
        <p:nvPicPr>
          <p:cNvPr id="5" name="Image 0" descr="/mnt/user-data/uploads/Screenshot_2026-09-20_135019.png">    </p:cNvPr>
          <p:cNvPicPr>
            <a:picLocks noChangeAspect="1"/>
          </p:cNvPicPr>
          <p:nvPr/>
        </p:nvPicPr>
        <p:blipFill>
          <a:blip r:embed="rId1"/>
          <a:stretch>
            <a:fillRect/>
          </a:stretch>
        </p:blipFill>
        <p:spPr>
          <a:xfrm>
            <a:off x="640080" y="1417320"/>
            <a:ext cx="6858000" cy="2811276"/>
          </a:xfrm>
          <a:prstGeom prst="rect">
            <a:avLst/>
          </a:prstGeom>
        </p:spPr>
      </p:pic>
      <p:sp>
        <p:nvSpPr>
          <p:cNvPr id="6" name="Text 3"/>
          <p:cNvSpPr txBox="1"/>
          <p:nvPr/>
        </p:nvSpPr>
        <p:spPr>
          <a:xfrm>
            <a:off x="548640" y="4407408"/>
            <a:ext cx="7040880" cy="292608"/>
          </a:xfrm>
          <a:prstGeom prst="rect">
            <a:avLst/>
          </a:prstGeom>
          <a:noFill/>
          <a:ln/>
        </p:spPr>
        <p:txBody>
          <a:bodyPr wrap="square" lIns="0" tIns="0" rIns="0" bIns="0" rtlCol="0" anchor="ctr"/>
          <a:lstStyle/>
          <a:p>
            <a:pPr algn="ctr" indent="0" marL="0">
              <a:buNone/>
            </a:pPr>
            <a:r>
              <a:rPr lang="en-US" sz="1200" i="1" dirty="0">
                <a:solidFill>
                  <a:srgbClr val="4D4D4D"/>
                </a:solidFill>
                <a:latin typeface="Calibri" pitchFamily="34" charset="0"/>
                <a:ea typeface="Calibri" pitchFamily="34" charset="-122"/>
                <a:cs typeface="Calibri" pitchFamily="34" charset="-120"/>
              </a:rPr>
              <a:t>Our live dashboard — click the Year or Discount filters to explore</a:t>
            </a:r>
            <a:endParaRPr lang="en-US" sz="1200" dirty="0"/>
          </a:p>
        </p:txBody>
      </p:sp>
      <p:sp>
        <p:nvSpPr>
          <p:cNvPr id="7" name="Text 4"/>
          <p:cNvSpPr txBox="1"/>
          <p:nvPr/>
        </p:nvSpPr>
        <p:spPr>
          <a:xfrm>
            <a:off x="548640" y="4846320"/>
            <a:ext cx="7040880"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How We Built It</a:t>
            </a:r>
            <a:endParaRPr lang="en-US" sz="1500" dirty="0"/>
          </a:p>
        </p:txBody>
      </p:sp>
      <p:sp>
        <p:nvSpPr>
          <p:cNvPr id="8" name="Shape 5"/>
          <p:cNvSpPr/>
          <p:nvPr/>
        </p:nvSpPr>
        <p:spPr>
          <a:xfrm>
            <a:off x="594360" y="5317236"/>
            <a:ext cx="100584" cy="100584"/>
          </a:xfrm>
          <a:prstGeom prst="ellipse">
            <a:avLst/>
          </a:prstGeom>
          <a:solidFill>
            <a:srgbClr val="CB403C"/>
          </a:solidFill>
          <a:ln w="12700">
            <a:solidFill>
              <a:srgbClr val="CB403C"/>
            </a:solidFill>
            <a:prstDash val="solid"/>
          </a:ln>
        </p:spPr>
      </p:sp>
      <p:sp>
        <p:nvSpPr>
          <p:cNvPr id="9" name="Text 6"/>
          <p:cNvSpPr txBox="1"/>
          <p:nvPr/>
        </p:nvSpPr>
        <p:spPr>
          <a:xfrm>
            <a:off x="841248" y="5230368"/>
            <a:ext cx="676656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Cleaned the raw sales data (duplicates, blanks, spelling mistakes)</a:t>
            </a:r>
            <a:endParaRPr lang="en-US" sz="1300" dirty="0"/>
          </a:p>
        </p:txBody>
      </p:sp>
      <p:sp>
        <p:nvSpPr>
          <p:cNvPr id="10" name="Shape 7"/>
          <p:cNvSpPr/>
          <p:nvPr/>
        </p:nvSpPr>
        <p:spPr>
          <a:xfrm>
            <a:off x="594360" y="5609844"/>
            <a:ext cx="100584" cy="100584"/>
          </a:xfrm>
          <a:prstGeom prst="ellipse">
            <a:avLst/>
          </a:prstGeom>
          <a:solidFill>
            <a:srgbClr val="CB403C"/>
          </a:solidFill>
          <a:ln w="12700">
            <a:solidFill>
              <a:srgbClr val="CB403C"/>
            </a:solidFill>
            <a:prstDash val="solid"/>
          </a:ln>
        </p:spPr>
      </p:sp>
      <p:sp>
        <p:nvSpPr>
          <p:cNvPr id="11" name="Text 8"/>
          <p:cNvSpPr txBox="1"/>
          <p:nvPr/>
        </p:nvSpPr>
        <p:spPr>
          <a:xfrm>
            <a:off x="841248" y="5522976"/>
            <a:ext cx="676656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Worked out the profit and profit % of every sale</a:t>
            </a:r>
            <a:endParaRPr lang="en-US" sz="1300" dirty="0"/>
          </a:p>
        </p:txBody>
      </p:sp>
      <p:sp>
        <p:nvSpPr>
          <p:cNvPr id="12" name="Shape 9"/>
          <p:cNvSpPr/>
          <p:nvPr/>
        </p:nvSpPr>
        <p:spPr>
          <a:xfrm>
            <a:off x="594360" y="5902452"/>
            <a:ext cx="100584" cy="100584"/>
          </a:xfrm>
          <a:prstGeom prst="ellipse">
            <a:avLst/>
          </a:prstGeom>
          <a:solidFill>
            <a:srgbClr val="CB403C"/>
          </a:solidFill>
          <a:ln w="12700">
            <a:solidFill>
              <a:srgbClr val="CB403C"/>
            </a:solidFill>
            <a:prstDash val="solid"/>
          </a:ln>
        </p:spPr>
      </p:sp>
      <p:sp>
        <p:nvSpPr>
          <p:cNvPr id="13" name="Text 10"/>
          <p:cNvSpPr txBox="1"/>
          <p:nvPr/>
        </p:nvSpPr>
        <p:spPr>
          <a:xfrm>
            <a:off x="841248" y="5815584"/>
            <a:ext cx="676656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Built six charts, each answering one simple question</a:t>
            </a:r>
            <a:endParaRPr lang="en-US" sz="1300" dirty="0"/>
          </a:p>
        </p:txBody>
      </p:sp>
      <p:sp>
        <p:nvSpPr>
          <p:cNvPr id="14" name="Shape 11"/>
          <p:cNvSpPr/>
          <p:nvPr/>
        </p:nvSpPr>
        <p:spPr>
          <a:xfrm>
            <a:off x="594360" y="6195060"/>
            <a:ext cx="100584" cy="100584"/>
          </a:xfrm>
          <a:prstGeom prst="ellipse">
            <a:avLst/>
          </a:prstGeom>
          <a:solidFill>
            <a:srgbClr val="CB403C"/>
          </a:solidFill>
          <a:ln w="12700">
            <a:solidFill>
              <a:srgbClr val="CB403C"/>
            </a:solidFill>
            <a:prstDash val="solid"/>
          </a:ln>
        </p:spPr>
      </p:sp>
      <p:sp>
        <p:nvSpPr>
          <p:cNvPr id="15" name="Text 12"/>
          <p:cNvSpPr txBox="1"/>
          <p:nvPr/>
        </p:nvSpPr>
        <p:spPr>
          <a:xfrm>
            <a:off x="841248" y="6108192"/>
            <a:ext cx="6766560" cy="2743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Next step: add customer and store-level views</a:t>
            </a:r>
            <a:endParaRPr lang="en-US" sz="1300" dirty="0"/>
          </a:p>
        </p:txBody>
      </p:sp>
      <p:sp>
        <p:nvSpPr>
          <p:cNvPr id="16" name="Text 13"/>
          <p:cNvSpPr txBox="1"/>
          <p:nvPr/>
        </p:nvSpPr>
        <p:spPr>
          <a:xfrm>
            <a:off x="7909560" y="1325880"/>
            <a:ext cx="3749040" cy="36576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What We Found</a:t>
            </a:r>
            <a:endParaRPr lang="en-US" sz="1500" dirty="0"/>
          </a:p>
        </p:txBody>
      </p:sp>
      <p:sp>
        <p:nvSpPr>
          <p:cNvPr id="17" name="Shape 14"/>
          <p:cNvSpPr/>
          <p:nvPr/>
        </p:nvSpPr>
        <p:spPr>
          <a:xfrm>
            <a:off x="7909560" y="1874520"/>
            <a:ext cx="548640" cy="548640"/>
          </a:xfrm>
          <a:prstGeom prst="ellipse">
            <a:avLst/>
          </a:prstGeom>
          <a:solidFill>
            <a:srgbClr val="3972B9"/>
          </a:solidFill>
          <a:ln w="12700">
            <a:solidFill>
              <a:srgbClr val="3972B9"/>
            </a:solidFill>
            <a:prstDash val="solid"/>
          </a:ln>
        </p:spPr>
      </p:sp>
      <p:pic>
        <p:nvPicPr>
          <p:cNvPr id="18" name="Image 1" descr="preencoded.png">    </p:cNvPr>
          <p:cNvPicPr>
            <a:picLocks noChangeAspect="1"/>
          </p:cNvPicPr>
          <p:nvPr/>
        </p:nvPicPr>
        <p:blipFill>
          <a:blip r:embed="rId2"/>
          <a:stretch>
            <a:fillRect/>
          </a:stretch>
        </p:blipFill>
        <p:spPr>
          <a:xfrm>
            <a:off x="8046720" y="2011680"/>
            <a:ext cx="274320" cy="274320"/>
          </a:xfrm>
          <a:prstGeom prst="rect">
            <a:avLst/>
          </a:prstGeom>
        </p:spPr>
      </p:pic>
      <p:sp>
        <p:nvSpPr>
          <p:cNvPr id="19" name="Text 15"/>
          <p:cNvSpPr txBox="1"/>
          <p:nvPr/>
        </p:nvSpPr>
        <p:spPr>
          <a:xfrm>
            <a:off x="8613648" y="1828800"/>
            <a:ext cx="3044952" cy="105156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Smaller discounts work best</a:t>
            </a:r>
            <a:endParaRPr lang="en-US" sz="1400" dirty="0"/>
          </a:p>
          <a:p>
            <a:pPr indent="0" marL="0">
              <a:buNone/>
            </a:pPr>
            <a:r>
              <a:rPr lang="en-US" sz="1250" dirty="0">
                <a:solidFill>
                  <a:srgbClr val="4D4D4D"/>
                </a:solidFill>
                <a:latin typeface="Calibri" pitchFamily="34" charset="0"/>
                <a:ea typeface="Calibri" pitchFamily="34" charset="-122"/>
                <a:cs typeface="Calibri" pitchFamily="34" charset="-120"/>
              </a:rPr>
              <a:t>With no discount we keep about ₹28 from every ₹100 sold. With 30% off, we keep less than ₹2.</a:t>
            </a:r>
            <a:endParaRPr lang="en-US" sz="1400" dirty="0"/>
          </a:p>
        </p:txBody>
      </p:sp>
      <p:sp>
        <p:nvSpPr>
          <p:cNvPr id="20" name="Shape 16"/>
          <p:cNvSpPr/>
          <p:nvPr/>
        </p:nvSpPr>
        <p:spPr>
          <a:xfrm>
            <a:off x="7909560" y="3017520"/>
            <a:ext cx="548640" cy="548640"/>
          </a:xfrm>
          <a:prstGeom prst="ellipse">
            <a:avLst/>
          </a:prstGeom>
          <a:solidFill>
            <a:srgbClr val="3972B9"/>
          </a:solidFill>
          <a:ln w="12700">
            <a:solidFill>
              <a:srgbClr val="3972B9"/>
            </a:solidFill>
            <a:prstDash val="solid"/>
          </a:ln>
        </p:spPr>
      </p:sp>
      <p:pic>
        <p:nvPicPr>
          <p:cNvPr id="21" name="Image 2" descr="preencoded.png">    </p:cNvPr>
          <p:cNvPicPr>
            <a:picLocks noChangeAspect="1"/>
          </p:cNvPicPr>
          <p:nvPr/>
        </p:nvPicPr>
        <p:blipFill>
          <a:blip r:embed="rId3"/>
          <a:stretch>
            <a:fillRect/>
          </a:stretch>
        </p:blipFill>
        <p:spPr>
          <a:xfrm>
            <a:off x="8046720" y="3154680"/>
            <a:ext cx="274320" cy="274320"/>
          </a:xfrm>
          <a:prstGeom prst="rect">
            <a:avLst/>
          </a:prstGeom>
        </p:spPr>
      </p:pic>
      <p:sp>
        <p:nvSpPr>
          <p:cNvPr id="22" name="Text 17"/>
          <p:cNvSpPr txBox="1"/>
          <p:nvPr/>
        </p:nvSpPr>
        <p:spPr>
          <a:xfrm>
            <a:off x="8613648" y="2971800"/>
            <a:ext cx="3044952" cy="105156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Fewer orders, not smaller ones</a:t>
            </a:r>
            <a:endParaRPr lang="en-US" sz="1400" dirty="0"/>
          </a:p>
          <a:p>
            <a:pPr indent="0" marL="0">
              <a:buNone/>
            </a:pPr>
            <a:r>
              <a:rPr lang="en-US" sz="1250" dirty="0">
                <a:solidFill>
                  <a:srgbClr val="4D4D4D"/>
                </a:solidFill>
                <a:latin typeface="Calibri" pitchFamily="34" charset="0"/>
                <a:ea typeface="Calibri" pitchFamily="34" charset="-122"/>
                <a:cs typeface="Calibri" pitchFamily="34" charset="-120"/>
              </a:rPr>
              <a:t>Sales peaked in Oct 2024 (₹11.8L). Since Apr 2025 there are under 25 orders a month, yet each order is still about ₹3,000.</a:t>
            </a:r>
            <a:endParaRPr lang="en-US" sz="1400" dirty="0"/>
          </a:p>
        </p:txBody>
      </p:sp>
      <p:sp>
        <p:nvSpPr>
          <p:cNvPr id="23" name="Shape 18"/>
          <p:cNvSpPr/>
          <p:nvPr/>
        </p:nvSpPr>
        <p:spPr>
          <a:xfrm>
            <a:off x="7909560" y="4160520"/>
            <a:ext cx="548640" cy="548640"/>
          </a:xfrm>
          <a:prstGeom prst="ellipse">
            <a:avLst/>
          </a:prstGeom>
          <a:solidFill>
            <a:srgbClr val="3972B9"/>
          </a:solidFill>
          <a:ln w="12700">
            <a:solidFill>
              <a:srgbClr val="3972B9"/>
            </a:solidFill>
            <a:prstDash val="solid"/>
          </a:ln>
        </p:spPr>
      </p:sp>
      <p:pic>
        <p:nvPicPr>
          <p:cNvPr id="24" name="Image 3" descr="preencoded.png">    </p:cNvPr>
          <p:cNvPicPr>
            <a:picLocks noChangeAspect="1"/>
          </p:cNvPicPr>
          <p:nvPr/>
        </p:nvPicPr>
        <p:blipFill>
          <a:blip r:embed="rId4"/>
          <a:stretch>
            <a:fillRect/>
          </a:stretch>
        </p:blipFill>
        <p:spPr>
          <a:xfrm>
            <a:off x="8046720" y="4297680"/>
            <a:ext cx="274320" cy="274320"/>
          </a:xfrm>
          <a:prstGeom prst="rect">
            <a:avLst/>
          </a:prstGeom>
        </p:spPr>
      </p:pic>
      <p:sp>
        <p:nvSpPr>
          <p:cNvPr id="25" name="Text 19"/>
          <p:cNvSpPr txBox="1"/>
          <p:nvPr/>
        </p:nvSpPr>
        <p:spPr>
          <a:xfrm>
            <a:off x="8613648" y="4114800"/>
            <a:ext cx="3044952" cy="105156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Few orders come back, except handbags</a:t>
            </a:r>
            <a:endParaRPr lang="en-US" sz="1400" dirty="0"/>
          </a:p>
          <a:p>
            <a:pPr indent="0" marL="0">
              <a:buNone/>
            </a:pPr>
            <a:r>
              <a:rPr lang="en-US" sz="1250" dirty="0">
                <a:solidFill>
                  <a:srgbClr val="4D4D4D"/>
                </a:solidFill>
                <a:latin typeface="Calibri" pitchFamily="34" charset="0"/>
                <a:ea typeface="Calibri" pitchFamily="34" charset="-122"/>
                <a:cs typeface="Calibri" pitchFamily="34" charset="-120"/>
              </a:rPr>
              <a:t>Only 146 of 3,000 orders (about 5%) were returned. Nearly 3 in 10 handbags come back.</a:t>
            </a:r>
            <a:endParaRPr lang="en-US" sz="1400" dirty="0"/>
          </a:p>
        </p:txBody>
      </p:sp>
      <p:sp>
        <p:nvSpPr>
          <p:cNvPr id="26" name="Shape 20"/>
          <p:cNvSpPr/>
          <p:nvPr/>
        </p:nvSpPr>
        <p:spPr>
          <a:xfrm>
            <a:off x="7909560" y="5303520"/>
            <a:ext cx="548640" cy="548640"/>
          </a:xfrm>
          <a:prstGeom prst="ellipse">
            <a:avLst/>
          </a:prstGeom>
          <a:solidFill>
            <a:srgbClr val="3972B9"/>
          </a:solidFill>
          <a:ln w="12700">
            <a:solidFill>
              <a:srgbClr val="3972B9"/>
            </a:solidFill>
            <a:prstDash val="solid"/>
          </a:ln>
        </p:spPr>
      </p:sp>
      <p:pic>
        <p:nvPicPr>
          <p:cNvPr id="27" name="Image 4" descr="preencoded.png">    </p:cNvPr>
          <p:cNvPicPr>
            <a:picLocks noChangeAspect="1"/>
          </p:cNvPicPr>
          <p:nvPr/>
        </p:nvPicPr>
        <p:blipFill>
          <a:blip r:embed="rId5"/>
          <a:stretch>
            <a:fillRect/>
          </a:stretch>
        </p:blipFill>
        <p:spPr>
          <a:xfrm>
            <a:off x="8046720" y="5440680"/>
            <a:ext cx="274320" cy="274320"/>
          </a:xfrm>
          <a:prstGeom prst="rect">
            <a:avLst/>
          </a:prstGeom>
        </p:spPr>
      </p:pic>
      <p:sp>
        <p:nvSpPr>
          <p:cNvPr id="28" name="Text 21"/>
          <p:cNvSpPr txBox="1"/>
          <p:nvPr/>
        </p:nvSpPr>
        <p:spPr>
          <a:xfrm>
            <a:off x="8613648" y="5257800"/>
            <a:ext cx="3044952" cy="1051560"/>
          </a:xfrm>
          <a:prstGeom prst="rect">
            <a:avLst/>
          </a:prstGeom>
          <a:noFill/>
          <a:ln/>
        </p:spPr>
        <p:txBody>
          <a:bodyPr wrap="square" lIns="0" tIns="0" rIns="0" bIns="0" rtlCol="0" anchor="t"/>
          <a:lstStyle/>
          <a:p>
            <a:pPr indent="0" marL="0">
              <a:buNone/>
            </a:pPr>
            <a:r>
              <a:rPr lang="en-US" sz="1400" b="1" dirty="0">
                <a:solidFill>
                  <a:srgbClr val="1A1A1A"/>
                </a:solidFill>
                <a:latin typeface="Calibri" pitchFamily="34" charset="0"/>
                <a:ea typeface="Calibri" pitchFamily="34" charset="-122"/>
                <a:cs typeface="Calibri" pitchFamily="34" charset="-120"/>
              </a:rPr>
              <a:t>Popular is not always profitable</a:t>
            </a:r>
            <a:endParaRPr lang="en-US" sz="1400" dirty="0"/>
          </a:p>
          <a:p>
            <a:pPr indent="0" marL="0">
              <a:buNone/>
            </a:pPr>
            <a:r>
              <a:rPr lang="en-US" sz="1250" dirty="0">
                <a:solidFill>
                  <a:srgbClr val="4D4D4D"/>
                </a:solidFill>
                <a:latin typeface="Calibri" pitchFamily="34" charset="0"/>
                <a:ea typeface="Calibri" pitchFamily="34" charset="-122"/>
                <a:cs typeface="Calibri" pitchFamily="34" charset="-120"/>
              </a:rPr>
              <a:t>Sarees sell the most (₹11.2L), but Handbags make the most profit (₹2.1L). Costs take about ₹71 of every ₹100 sold.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5E5"/>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A6A6A6"/>
          </a:solidFill>
          <a:ln w="12700">
            <a:solidFill>
              <a:srgbClr val="A6A6A6"/>
            </a:solidFill>
            <a:prstDash val="solid"/>
          </a:ln>
        </p:spPr>
      </p:sp>
      <p:sp>
        <p:nvSpPr>
          <p:cNvPr id="3" name="Text 1"/>
          <p:cNvSpPr txBox="1"/>
          <p:nvPr/>
        </p:nvSpPr>
        <p:spPr>
          <a:xfrm>
            <a:off x="548640" y="0"/>
            <a:ext cx="11064240" cy="105156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What We Recommend</a:t>
            </a:r>
            <a:endParaRPr lang="en-US" sz="3000" dirty="0"/>
          </a:p>
        </p:txBody>
      </p:sp>
      <p:sp>
        <p:nvSpPr>
          <p:cNvPr id="4" name="Text 2"/>
          <p:cNvSpPr txBox="1"/>
          <p:nvPr/>
        </p:nvSpPr>
        <p:spPr>
          <a:xfrm>
            <a:off x="548640" y="1207008"/>
            <a:ext cx="11064240" cy="347472"/>
          </a:xfrm>
          <a:prstGeom prst="rect">
            <a:avLst/>
          </a:prstGeom>
          <a:noFill/>
          <a:ln/>
        </p:spPr>
        <p:txBody>
          <a:bodyPr wrap="square" lIns="0" tIns="0" rIns="0" bIns="0" rtlCol="0" anchor="ctr"/>
          <a:lstStyle/>
          <a:p>
            <a:pPr indent="0" marL="0">
              <a:buNone/>
            </a:pPr>
            <a:r>
              <a:rPr lang="en-US" sz="1400" i="1" dirty="0">
                <a:solidFill>
                  <a:srgbClr val="4D4D4D"/>
                </a:solidFill>
                <a:latin typeface="Calibri" pitchFamily="34" charset="0"/>
                <a:ea typeface="Calibri" pitchFamily="34" charset="-122"/>
                <a:cs typeface="Calibri" pitchFamily="34" charset="-120"/>
              </a:rPr>
              <a:t>Ideas for management to act on or look into — these are patterns in the data, not proven causes</a:t>
            </a:r>
            <a:endParaRPr lang="en-US" sz="1400" dirty="0"/>
          </a:p>
        </p:txBody>
      </p:sp>
      <p:sp>
        <p:nvSpPr>
          <p:cNvPr id="5" name="Shape 3"/>
          <p:cNvSpPr/>
          <p:nvPr/>
        </p:nvSpPr>
        <p:spPr>
          <a:xfrm>
            <a:off x="548640" y="178308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6" name="Shape 4"/>
          <p:cNvSpPr/>
          <p:nvPr/>
        </p:nvSpPr>
        <p:spPr>
          <a:xfrm>
            <a:off x="822960" y="1984248"/>
            <a:ext cx="566928" cy="566928"/>
          </a:xfrm>
          <a:prstGeom prst="ellipse">
            <a:avLst/>
          </a:prstGeom>
          <a:solidFill>
            <a:srgbClr val="3972B9"/>
          </a:solidFill>
          <a:ln w="12700">
            <a:solidFill>
              <a:srgbClr val="3972B9"/>
            </a:solidFill>
            <a:prstDash val="solid"/>
          </a:ln>
        </p:spPr>
      </p:sp>
      <p:pic>
        <p:nvPicPr>
          <p:cNvPr id="7" name="Image 0" descr="preencoded.png">    </p:cNvPr>
          <p:cNvPicPr>
            <a:picLocks noChangeAspect="1"/>
          </p:cNvPicPr>
          <p:nvPr/>
        </p:nvPicPr>
        <p:blipFill>
          <a:blip r:embed="rId1"/>
          <a:stretch>
            <a:fillRect/>
          </a:stretch>
        </p:blipFill>
        <p:spPr>
          <a:xfrm>
            <a:off x="964692" y="2125980"/>
            <a:ext cx="283464" cy="283464"/>
          </a:xfrm>
          <a:prstGeom prst="rect">
            <a:avLst/>
          </a:prstGeom>
        </p:spPr>
      </p:pic>
      <p:sp>
        <p:nvSpPr>
          <p:cNvPr id="8" name="Text 5"/>
          <p:cNvSpPr txBox="1"/>
          <p:nvPr/>
        </p:nvSpPr>
        <p:spPr>
          <a:xfrm>
            <a:off x="822960" y="265176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Limit Big Discounts</a:t>
            </a:r>
            <a:endParaRPr lang="en-US" sz="1500" dirty="0"/>
          </a:p>
        </p:txBody>
      </p:sp>
      <p:sp>
        <p:nvSpPr>
          <p:cNvPr id="9" name="Text 6"/>
          <p:cNvSpPr txBox="1"/>
          <p:nvPr/>
        </p:nvSpPr>
        <p:spPr>
          <a:xfrm>
            <a:off x="822960" y="299923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Orders with 25–30% off are nearly 1 in 4, yet bring only 4.5% of profit. Most sales made at a loss (168 of 179) happen here.</a:t>
            </a:r>
            <a:endParaRPr lang="en-US" sz="1300" dirty="0"/>
          </a:p>
        </p:txBody>
      </p:sp>
      <p:sp>
        <p:nvSpPr>
          <p:cNvPr id="10" name="Shape 7"/>
          <p:cNvSpPr/>
          <p:nvPr/>
        </p:nvSpPr>
        <p:spPr>
          <a:xfrm>
            <a:off x="4343400" y="178308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11" name="Shape 8"/>
          <p:cNvSpPr/>
          <p:nvPr/>
        </p:nvSpPr>
        <p:spPr>
          <a:xfrm>
            <a:off x="4617720" y="1984248"/>
            <a:ext cx="566928" cy="566928"/>
          </a:xfrm>
          <a:prstGeom prst="ellipse">
            <a:avLst/>
          </a:prstGeom>
          <a:solidFill>
            <a:srgbClr val="3972B9"/>
          </a:solidFill>
          <a:ln w="12700">
            <a:solidFill>
              <a:srgbClr val="3972B9"/>
            </a:solidFill>
            <a:prstDash val="solid"/>
          </a:ln>
        </p:spPr>
      </p:sp>
      <p:pic>
        <p:nvPicPr>
          <p:cNvPr id="12" name="Image 1" descr="preencoded.png">    </p:cNvPr>
          <p:cNvPicPr>
            <a:picLocks noChangeAspect="1"/>
          </p:cNvPicPr>
          <p:nvPr/>
        </p:nvPicPr>
        <p:blipFill>
          <a:blip r:embed="rId2"/>
          <a:stretch>
            <a:fillRect/>
          </a:stretch>
        </p:blipFill>
        <p:spPr>
          <a:xfrm>
            <a:off x="4759452" y="2125980"/>
            <a:ext cx="283464" cy="283464"/>
          </a:xfrm>
          <a:prstGeom prst="rect">
            <a:avLst/>
          </a:prstGeom>
        </p:spPr>
      </p:pic>
      <p:sp>
        <p:nvSpPr>
          <p:cNvPr id="13" name="Text 9"/>
          <p:cNvSpPr txBox="1"/>
          <p:nvPr/>
        </p:nvSpPr>
        <p:spPr>
          <a:xfrm>
            <a:off x="4617720" y="265176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Check Handbag Returns</a:t>
            </a:r>
            <a:endParaRPr lang="en-US" sz="1500" dirty="0"/>
          </a:p>
        </p:txBody>
      </p:sp>
      <p:sp>
        <p:nvSpPr>
          <p:cNvPr id="14" name="Text 10"/>
          <p:cNvSpPr txBox="1"/>
          <p:nvPr/>
        </p:nvSpPr>
        <p:spPr>
          <a:xfrm>
            <a:off x="4617720" y="299923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Nearly 3 in 10 handbags come back, against about 3 in 100 for other items. One sling bag alone has 51 of 81 sales returned.</a:t>
            </a:r>
            <a:endParaRPr lang="en-US" sz="1300" dirty="0"/>
          </a:p>
        </p:txBody>
      </p:sp>
      <p:sp>
        <p:nvSpPr>
          <p:cNvPr id="15" name="Shape 11"/>
          <p:cNvSpPr/>
          <p:nvPr/>
        </p:nvSpPr>
        <p:spPr>
          <a:xfrm>
            <a:off x="8138160" y="178308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16" name="Shape 12"/>
          <p:cNvSpPr/>
          <p:nvPr/>
        </p:nvSpPr>
        <p:spPr>
          <a:xfrm>
            <a:off x="8412480" y="1984248"/>
            <a:ext cx="566928" cy="566928"/>
          </a:xfrm>
          <a:prstGeom prst="ellipse">
            <a:avLst/>
          </a:prstGeom>
          <a:solidFill>
            <a:srgbClr val="3972B9"/>
          </a:solidFill>
          <a:ln w="12700">
            <a:solidFill>
              <a:srgbClr val="3972B9"/>
            </a:solidFill>
            <a:prstDash val="solid"/>
          </a:ln>
        </p:spPr>
      </p:sp>
      <p:pic>
        <p:nvPicPr>
          <p:cNvPr id="17" name="Image 2" descr="preencoded.png">    </p:cNvPr>
          <p:cNvPicPr>
            <a:picLocks noChangeAspect="1"/>
          </p:cNvPicPr>
          <p:nvPr/>
        </p:nvPicPr>
        <p:blipFill>
          <a:blip r:embed="rId3"/>
          <a:stretch>
            <a:fillRect/>
          </a:stretch>
        </p:blipFill>
        <p:spPr>
          <a:xfrm>
            <a:off x="8554212" y="2125980"/>
            <a:ext cx="283464" cy="283464"/>
          </a:xfrm>
          <a:prstGeom prst="rect">
            <a:avLst/>
          </a:prstGeom>
        </p:spPr>
      </p:pic>
      <p:sp>
        <p:nvSpPr>
          <p:cNvPr id="18" name="Text 13"/>
          <p:cNvSpPr txBox="1"/>
          <p:nvPr/>
        </p:nvSpPr>
        <p:spPr>
          <a:xfrm>
            <a:off x="8412480" y="265176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Focus on Profitable Categories</a:t>
            </a:r>
            <a:endParaRPr lang="en-US" sz="1500" dirty="0"/>
          </a:p>
        </p:txBody>
      </p:sp>
      <p:sp>
        <p:nvSpPr>
          <p:cNvPr id="19" name="Text 14"/>
          <p:cNvSpPr txBox="1"/>
          <p:nvPr/>
        </p:nvSpPr>
        <p:spPr>
          <a:xfrm>
            <a:off x="8412480" y="299923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Accessories and Men’s T-Shirts keep ₹30–33 per ₹100 sold but are just 5% of sales. Men’s Jeans keep only ₹14.8.</a:t>
            </a:r>
            <a:endParaRPr lang="en-US" sz="1300" dirty="0"/>
          </a:p>
        </p:txBody>
      </p:sp>
      <p:sp>
        <p:nvSpPr>
          <p:cNvPr id="20" name="Shape 15"/>
          <p:cNvSpPr/>
          <p:nvPr/>
        </p:nvSpPr>
        <p:spPr>
          <a:xfrm>
            <a:off x="548640" y="411480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21" name="Shape 16"/>
          <p:cNvSpPr/>
          <p:nvPr/>
        </p:nvSpPr>
        <p:spPr>
          <a:xfrm>
            <a:off x="822960" y="4315968"/>
            <a:ext cx="566928" cy="566928"/>
          </a:xfrm>
          <a:prstGeom prst="ellipse">
            <a:avLst/>
          </a:prstGeom>
          <a:solidFill>
            <a:srgbClr val="3972B9"/>
          </a:solidFill>
          <a:ln w="12700">
            <a:solidFill>
              <a:srgbClr val="3972B9"/>
            </a:solidFill>
            <a:prstDash val="solid"/>
          </a:ln>
        </p:spPr>
      </p:sp>
      <p:pic>
        <p:nvPicPr>
          <p:cNvPr id="22" name="Image 3" descr="preencoded.png">    </p:cNvPr>
          <p:cNvPicPr>
            <a:picLocks noChangeAspect="1"/>
          </p:cNvPicPr>
          <p:nvPr/>
        </p:nvPicPr>
        <p:blipFill>
          <a:blip r:embed="rId4"/>
          <a:stretch>
            <a:fillRect/>
          </a:stretch>
        </p:blipFill>
        <p:spPr>
          <a:xfrm>
            <a:off x="964692" y="4457700"/>
            <a:ext cx="283464" cy="283464"/>
          </a:xfrm>
          <a:prstGeom prst="rect">
            <a:avLst/>
          </a:prstGeom>
        </p:spPr>
      </p:pic>
      <p:sp>
        <p:nvSpPr>
          <p:cNvPr id="23" name="Text 17"/>
          <p:cNvSpPr txBox="1"/>
          <p:nvPr/>
        </p:nvSpPr>
        <p:spPr>
          <a:xfrm>
            <a:off x="822960" y="498348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Confirm the Drop in Orders</a:t>
            </a:r>
            <a:endParaRPr lang="en-US" sz="1500" dirty="0"/>
          </a:p>
        </p:txBody>
      </p:sp>
      <p:sp>
        <p:nvSpPr>
          <p:cNvPr id="24" name="Text 18"/>
          <p:cNvSpPr txBox="1"/>
          <p:nvPr/>
        </p:nvSpPr>
        <p:spPr>
          <a:xfrm>
            <a:off x="822960" y="533095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Orders fell from 173 (Mar 2025) to 18 (Apr 2025), yet each order stayed near ₹3,000. Check if records are missing.</a:t>
            </a:r>
            <a:endParaRPr lang="en-US" sz="1300" dirty="0"/>
          </a:p>
        </p:txBody>
      </p:sp>
      <p:sp>
        <p:nvSpPr>
          <p:cNvPr id="25" name="Shape 19"/>
          <p:cNvSpPr/>
          <p:nvPr/>
        </p:nvSpPr>
        <p:spPr>
          <a:xfrm>
            <a:off x="4343400" y="411480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26" name="Shape 20"/>
          <p:cNvSpPr/>
          <p:nvPr/>
        </p:nvSpPr>
        <p:spPr>
          <a:xfrm>
            <a:off x="4617720" y="4315968"/>
            <a:ext cx="566928" cy="566928"/>
          </a:xfrm>
          <a:prstGeom prst="ellipse">
            <a:avLst/>
          </a:prstGeom>
          <a:solidFill>
            <a:srgbClr val="3972B9"/>
          </a:solidFill>
          <a:ln w="12700">
            <a:solidFill>
              <a:srgbClr val="3972B9"/>
            </a:solidFill>
            <a:prstDash val="solid"/>
          </a:ln>
        </p:spPr>
      </p:sp>
      <p:pic>
        <p:nvPicPr>
          <p:cNvPr id="27" name="Image 4" descr="preencoded.png">    </p:cNvPr>
          <p:cNvPicPr>
            <a:picLocks noChangeAspect="1"/>
          </p:cNvPicPr>
          <p:nvPr/>
        </p:nvPicPr>
        <p:blipFill>
          <a:blip r:embed="rId5"/>
          <a:stretch>
            <a:fillRect/>
          </a:stretch>
        </p:blipFill>
        <p:spPr>
          <a:xfrm>
            <a:off x="4759452" y="4457700"/>
            <a:ext cx="283464" cy="283464"/>
          </a:xfrm>
          <a:prstGeom prst="rect">
            <a:avLst/>
          </a:prstGeom>
        </p:spPr>
      </p:pic>
      <p:sp>
        <p:nvSpPr>
          <p:cNvPr id="28" name="Text 21"/>
          <p:cNvSpPr txBox="1"/>
          <p:nvPr/>
        </p:nvSpPr>
        <p:spPr>
          <a:xfrm>
            <a:off x="4617720" y="498348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Grow Online, Carefully</a:t>
            </a:r>
            <a:endParaRPr lang="en-US" sz="1500" dirty="0"/>
          </a:p>
        </p:txBody>
      </p:sp>
      <p:sp>
        <p:nvSpPr>
          <p:cNvPr id="29" name="Text 22"/>
          <p:cNvSpPr txBox="1"/>
          <p:nvPr/>
        </p:nvSpPr>
        <p:spPr>
          <a:xfrm>
            <a:off x="4617720" y="533095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Online brings 34% of sales and keeps about ₹19.60 per ₹100, the same as in-store. Grow it, with the same discount limits.</a:t>
            </a:r>
            <a:endParaRPr lang="en-US" sz="1300" dirty="0"/>
          </a:p>
        </p:txBody>
      </p:sp>
      <p:sp>
        <p:nvSpPr>
          <p:cNvPr id="30" name="Shape 23"/>
          <p:cNvSpPr/>
          <p:nvPr/>
        </p:nvSpPr>
        <p:spPr>
          <a:xfrm>
            <a:off x="8138160" y="4114800"/>
            <a:ext cx="3502152" cy="2148840"/>
          </a:xfrm>
          <a:prstGeom prst="roundRect">
            <a:avLst>
              <a:gd name="adj" fmla="val 4255"/>
            </a:avLst>
          </a:prstGeom>
          <a:solidFill>
            <a:srgbClr val="FFFFFF"/>
          </a:solidFill>
          <a:ln w="12700">
            <a:solidFill>
              <a:srgbClr val="BFBFBF"/>
            </a:solidFill>
            <a:prstDash val="solid"/>
          </a:ln>
          <a:effectLst>
            <a:outerShdw sx="100000" sy="100000" kx="0" ky="0" algn="bl" rotWithShape="0" blurRad="101600" dist="25400" dir="5400000">
              <a:srgbClr val="000000">
                <a:alpha val="15000"/>
              </a:srgbClr>
            </a:outerShdw>
          </a:effectLst>
        </p:spPr>
      </p:sp>
      <p:sp>
        <p:nvSpPr>
          <p:cNvPr id="31" name="Shape 24"/>
          <p:cNvSpPr/>
          <p:nvPr/>
        </p:nvSpPr>
        <p:spPr>
          <a:xfrm>
            <a:off x="8412480" y="4315968"/>
            <a:ext cx="566928" cy="566928"/>
          </a:xfrm>
          <a:prstGeom prst="ellipse">
            <a:avLst/>
          </a:prstGeom>
          <a:solidFill>
            <a:srgbClr val="3972B9"/>
          </a:solidFill>
          <a:ln w="12700">
            <a:solidFill>
              <a:srgbClr val="3972B9"/>
            </a:solidFill>
            <a:prstDash val="solid"/>
          </a:ln>
        </p:spPr>
      </p:sp>
      <p:pic>
        <p:nvPicPr>
          <p:cNvPr id="32" name="Image 5" descr="preencoded.png">    </p:cNvPr>
          <p:cNvPicPr>
            <a:picLocks noChangeAspect="1"/>
          </p:cNvPicPr>
          <p:nvPr/>
        </p:nvPicPr>
        <p:blipFill>
          <a:blip r:embed="rId6"/>
          <a:stretch>
            <a:fillRect/>
          </a:stretch>
        </p:blipFill>
        <p:spPr>
          <a:xfrm>
            <a:off x="8554212" y="4457700"/>
            <a:ext cx="283464" cy="283464"/>
          </a:xfrm>
          <a:prstGeom prst="rect">
            <a:avLst/>
          </a:prstGeom>
        </p:spPr>
      </p:pic>
      <p:sp>
        <p:nvSpPr>
          <p:cNvPr id="33" name="Text 25"/>
          <p:cNvSpPr txBox="1"/>
          <p:nvPr/>
        </p:nvSpPr>
        <p:spPr>
          <a:xfrm>
            <a:off x="8412480" y="4983480"/>
            <a:ext cx="2953512" cy="320040"/>
          </a:xfrm>
          <a:prstGeom prst="rect">
            <a:avLst/>
          </a:prstGeom>
          <a:noFill/>
          <a:ln/>
        </p:spPr>
        <p:txBody>
          <a:bodyPr wrap="square" lIns="0" tIns="0" rIns="0" bIns="0" rtlCol="0" anchor="ctr"/>
          <a:lstStyle/>
          <a:p>
            <a:pPr indent="0" marL="0">
              <a:buNone/>
            </a:pPr>
            <a:r>
              <a:rPr lang="en-US" sz="1500" b="1" dirty="0">
                <a:solidFill>
                  <a:srgbClr val="3972B9"/>
                </a:solidFill>
                <a:latin typeface="Calibri" pitchFamily="34" charset="0"/>
                <a:ea typeface="Calibri" pitchFamily="34" charset="-122"/>
                <a:cs typeface="Calibri" pitchFamily="34" charset="-120"/>
              </a:rPr>
              <a:t>Look Closer at Kerala</a:t>
            </a:r>
            <a:endParaRPr lang="en-US" sz="1500" dirty="0"/>
          </a:p>
        </p:txBody>
      </p:sp>
      <p:sp>
        <p:nvSpPr>
          <p:cNvPr id="34" name="Text 26"/>
          <p:cNvSpPr txBox="1"/>
          <p:nvPr/>
        </p:nvSpPr>
        <p:spPr>
          <a:xfrm>
            <a:off x="8412480" y="5330952"/>
            <a:ext cx="2953512" cy="868680"/>
          </a:xfrm>
          <a:prstGeom prst="rect">
            <a:avLst/>
          </a:prstGeom>
          <a:noFill/>
          <a:ln/>
        </p:spPr>
        <p:txBody>
          <a:bodyPr wrap="square" lIns="0" tIns="0" rIns="0" bIns="0" rtlCol="0" anchor="t"/>
          <a:lstStyle/>
          <a:p>
            <a:pPr indent="0" marL="0">
              <a:buNone/>
            </a:pPr>
            <a:r>
              <a:rPr lang="en-US" sz="1300" dirty="0">
                <a:solidFill>
                  <a:srgbClr val="4D4D4D"/>
                </a:solidFill>
                <a:latin typeface="Calibri" pitchFamily="34" charset="0"/>
                <a:ea typeface="Calibri" pitchFamily="34" charset="-122"/>
                <a:cs typeface="Calibri" pitchFamily="34" charset="-120"/>
              </a:rPr>
              <a:t>Kerala sells the most (₹25.6L) and gives the biggest discounts (13.2%), yet keeps about ₹19 per ₹100. Andhra Pradesh keeps ₹20.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TrendMart: Are We Really Making Money?</dc:title>
  <dc:subject>PptxGenJS Presentation</dc:subject>
  <dc:creator>PptxGenJS</dc:creator>
  <cp:lastModifiedBy>PptxGenJS</cp:lastModifiedBy>
  <cp:revision>1</cp:revision>
  <dcterms:created xsi:type="dcterms:W3CDTF">2026-09-20T08:36:41Z</dcterms:created>
  <dcterms:modified xsi:type="dcterms:W3CDTF">2026-09-20T08:36:41Z</dcterms:modified>
</cp:coreProperties>
</file>