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notesMasterIdLst>
    <p:notesMasterId r:id="rId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everyone. This project is about one simple question: where does TrendMart make money, and where does it quietly lose it? I will show you the problem, the dashboard I built to answer it, and what management can do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problem in simple words. TrendMart sells a lot across many stores and products. But management cannot easily see where the money is really made and where it is lost. High sales do not automatically mean high profit. Price cuts, product costs and returned items can quietly reduce profit. So the question is: where are we losing profit even though we are selling well, and which areas need attention? The four cards are the same as on the dashboard. Sales are Rs 92.27 lakh. Profit is Rs 18.01 lakh. The profit margin is 19.52%, which simply means we keep about Rs 19.50 out of every Rs 100 sold. And the average discount, or price cut, is 12.57%. The six items on the right are the views the dashboard uses to look for the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answer the question, I built an interactive Excel dashboard. First I cleaned the raw sales data, fixing duplicates, blanks and spelling mistakes. Then I worked out the profit and profit percentage of every sale, and turned the numbers into charts. The dashboard has two filters, Year and Discount, so anyone can click and explore. What did we find? First, bigger discounts mean smaller profit. With no discount we keep about Rs 28 from every Rs 100 sold. With 30% off, we keep less than Rs 2. This is a pattern we see in the data; it does not prove that discount alone causes it. Second, popular is not always profitable. Sarees sell the most, but Handbags make the most profit. Third, online and in-store earn about the same profit per sale. In-store is about Rs 60.49 lakh of sales and Rs 11.79 lakh profit. Online is about Rs 31.78 lakh of sales and Rs 6.22 lakh profit. Fourth, Kerala sells the most, and our top 10 stores bring about 27% of all sales. Two things to note. The monthly chart shows very few records after March 2025 (173 in March, 18 in April), so we should confirm whether that is a real slowdown or missing data. And returns, costs and customers are not yet on the dashboard; that is the next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ideas for management to act on or look into. They are patterns in the data, not proven causes. One: limit big discounts. Orders with 25 to 30 percent off are nearly one in four, but bring only about 4.5% of profit. And 168 of the 179 sales made at a loss happen at these discount levels. Two: check handbag returns. Nearly 3 in 10 handbags are returned, against about 3 in 100 for other items. One sling bag, product PRD0043, has 51 of its 81 sales returned. The brand on that product is a jewellery brand, so the product record should also be checked. Returned orders are still counted in the headline sales and profit. Three: sell more high-profit items. Accessories and Men's T-Shirts keep about Rs 30 to 33 from every Rs 100 sold, but are only about 5% of sales. Four: fix low-profit products. Sarees sell the most but keep a little less than average. Men's Jeans keep only 14.8%. Five: cut discounts at Outlet stores, which give the biggest discounts and keep the least profit. Six: grow online carefully, with the same discount limits. The key message: do not judge the business by sales alone. Look at sales and profit together. Thank you, I am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slideLayout" Target="../slideLayouts/slideLayout1.xml"/><Relationship Id="rId9"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1.xml"/><Relationship Id="rId8"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E5E5E5"/>
        </a:solidFill>
      </p:bgPr>
    </p:bg>
    <p:spTree>
      <p:nvGrpSpPr>
        <p:cNvPr id="1" name=""/>
        <p:cNvGrpSpPr/>
        <p:nvPr/>
      </p:nvGrpSpPr>
      <p:grpSpPr>
        <a:xfrm>
          <a:off x="0" y="0"/>
          <a:ext cx="0" cy="0"/>
          <a:chOff x="0" y="0"/>
          <a:chExt cx="0" cy="0"/>
        </a:xfrm>
      </p:grpSpPr>
      <p:sp>
        <p:nvSpPr>
          <p:cNvPr id="2" name="Shape 0"/>
          <p:cNvSpPr/>
          <p:nvPr/>
        </p:nvSpPr>
        <p:spPr>
          <a:xfrm>
            <a:off x="0" y="0"/>
            <a:ext cx="12191695" cy="1051560"/>
          </a:xfrm>
          <a:prstGeom prst="rect">
            <a:avLst/>
          </a:prstGeom>
          <a:solidFill>
            <a:srgbClr val="A6A6A6"/>
          </a:solidFill>
          <a:ln w="12700">
            <a:solidFill>
              <a:srgbClr val="A6A6A6"/>
            </a:solidFill>
            <a:prstDash val="solid"/>
          </a:ln>
        </p:spPr>
      </p:sp>
      <p:sp>
        <p:nvSpPr>
          <p:cNvPr id="3" name="Text 1"/>
          <p:cNvSpPr txBox="1"/>
          <p:nvPr/>
        </p:nvSpPr>
        <p:spPr>
          <a:xfrm>
            <a:off x="548640" y="0"/>
            <a:ext cx="11064240" cy="1051560"/>
          </a:xfrm>
          <a:prstGeom prst="rect">
            <a:avLst/>
          </a:prstGeom>
          <a:noFill/>
          <a:ln/>
        </p:spPr>
        <p:txBody>
          <a:bodyPr wrap="square" lIns="0" tIns="0" rIns="0" bIns="0" rtlCol="0" anchor="ctr"/>
          <a:lstStyle/>
          <a:p>
            <a:pPr indent="0" marL="0">
              <a:buNone/>
            </a:pPr>
            <a:r>
              <a:rPr lang="en-US" sz="3000" b="1" dirty="0">
                <a:solidFill>
                  <a:srgbClr val="000000"/>
                </a:solidFill>
                <a:latin typeface="Cambria" pitchFamily="34" charset="0"/>
                <a:ea typeface="Cambria" pitchFamily="34" charset="-122"/>
                <a:cs typeface="Cambria" pitchFamily="34" charset="-120"/>
              </a:rPr>
              <a:t>TrendMart: Are We Really Making Money?</a:t>
            </a:r>
            <a:endParaRPr lang="en-US" sz="3000" dirty="0"/>
          </a:p>
        </p:txBody>
      </p:sp>
      <p:sp>
        <p:nvSpPr>
          <p:cNvPr id="4" name="Shape 2"/>
          <p:cNvSpPr/>
          <p:nvPr/>
        </p:nvSpPr>
        <p:spPr>
          <a:xfrm>
            <a:off x="5410505" y="1600200"/>
            <a:ext cx="1371600" cy="1371600"/>
          </a:xfrm>
          <a:prstGeom prst="ellipse">
            <a:avLst/>
          </a:prstGeom>
          <a:solidFill>
            <a:srgbClr val="3972B9"/>
          </a:solidFill>
          <a:ln w="12700">
            <a:solidFill>
              <a:srgbClr val="3972B9"/>
            </a:solidFill>
            <a:prstDash val="solid"/>
          </a:ln>
        </p:spPr>
      </p:sp>
      <p:pic>
        <p:nvPicPr>
          <p:cNvPr id="5" name="Image 0" descr="preencoded.png">    </p:cNvPr>
          <p:cNvPicPr>
            <a:picLocks noChangeAspect="1"/>
          </p:cNvPicPr>
          <p:nvPr/>
        </p:nvPicPr>
        <p:blipFill>
          <a:blip r:embed="rId1"/>
          <a:stretch>
            <a:fillRect/>
          </a:stretch>
        </p:blipFill>
        <p:spPr>
          <a:xfrm>
            <a:off x="5753405" y="1943100"/>
            <a:ext cx="685800" cy="685800"/>
          </a:xfrm>
          <a:prstGeom prst="rect">
            <a:avLst/>
          </a:prstGeom>
        </p:spPr>
      </p:pic>
      <p:sp>
        <p:nvSpPr>
          <p:cNvPr id="6" name="Text 3"/>
          <p:cNvSpPr txBox="1"/>
          <p:nvPr/>
        </p:nvSpPr>
        <p:spPr>
          <a:xfrm>
            <a:off x="1280160" y="3246120"/>
            <a:ext cx="9628632" cy="640080"/>
          </a:xfrm>
          <a:prstGeom prst="rect">
            <a:avLst/>
          </a:prstGeom>
          <a:noFill/>
          <a:ln/>
        </p:spPr>
        <p:txBody>
          <a:bodyPr wrap="square" lIns="0" tIns="0" rIns="0" bIns="0" rtlCol="0" anchor="ctr"/>
          <a:lstStyle/>
          <a:p>
            <a:pPr algn="ctr" indent="0" marL="0">
              <a:buNone/>
            </a:pPr>
            <a:r>
              <a:rPr lang="en-US" sz="1500" i="1" dirty="0">
                <a:solidFill>
                  <a:srgbClr val="4D4D4D"/>
                </a:solidFill>
                <a:latin typeface="Calibri" pitchFamily="34" charset="0"/>
                <a:ea typeface="Calibri" pitchFamily="34" charset="-122"/>
                <a:cs typeface="Calibri" pitchFamily="34" charset="-120"/>
              </a:rPr>
              <a:t>TrendMart is a busy fashion retailer. This is a simple look at where it makes money — and where it quietly loses it.</a:t>
            </a:r>
            <a:endParaRPr lang="en-US" sz="1500" dirty="0"/>
          </a:p>
        </p:txBody>
      </p:sp>
      <p:sp>
        <p:nvSpPr>
          <p:cNvPr id="7" name="Shape 4"/>
          <p:cNvSpPr/>
          <p:nvPr/>
        </p:nvSpPr>
        <p:spPr>
          <a:xfrm>
            <a:off x="4837176" y="4114800"/>
            <a:ext cx="2514600" cy="658368"/>
          </a:xfrm>
          <a:prstGeom prst="roundRect">
            <a:avLst>
              <a:gd name="adj" fmla="val 13889"/>
            </a:avLst>
          </a:prstGeom>
          <a:solidFill>
            <a:srgbClr val="FFFFFF"/>
          </a:solidFill>
          <a:ln w="12700">
            <a:solidFill>
              <a:srgbClr val="BFBFBF"/>
            </a:solidFill>
            <a:prstDash val="solid"/>
          </a:ln>
          <a:effectLst>
            <a:outerShdw sx="100000" sy="100000" kx="0" ky="0" algn="bl" rotWithShape="0" blurRad="101600" dist="25400" dir="5400000">
              <a:srgbClr val="000000">
                <a:alpha val="15000"/>
              </a:srgbClr>
            </a:outerShdw>
          </a:effectLst>
        </p:spPr>
      </p:sp>
      <p:sp>
        <p:nvSpPr>
          <p:cNvPr id="8" name="Text 5"/>
          <p:cNvSpPr txBox="1"/>
          <p:nvPr/>
        </p:nvSpPr>
        <p:spPr>
          <a:xfrm>
            <a:off x="4837176" y="4114800"/>
            <a:ext cx="2514600" cy="658368"/>
          </a:xfrm>
          <a:prstGeom prst="rect">
            <a:avLst/>
          </a:prstGeom>
          <a:noFill/>
          <a:ln/>
        </p:spPr>
        <p:txBody>
          <a:bodyPr wrap="square" lIns="0" tIns="0" rIns="0" bIns="0" rtlCol="0" anchor="ctr"/>
          <a:lstStyle/>
          <a:p>
            <a:pPr algn="ctr" indent="0" marL="0">
              <a:buNone/>
            </a:pPr>
            <a:r>
              <a:rPr lang="en-US" sz="1400" b="1" dirty="0">
                <a:solidFill>
                  <a:srgbClr val="3972B9"/>
                </a:solidFill>
                <a:latin typeface="Calibri" pitchFamily="34" charset="0"/>
                <a:ea typeface="Calibri" pitchFamily="34" charset="-122"/>
                <a:cs typeface="Calibri" pitchFamily="34" charset="-120"/>
              </a:rPr>
              <a:t>Presented by Keerthana</a:t>
            </a:r>
            <a:endParaRPr lang="en-US" sz="1400" dirty="0"/>
          </a:p>
        </p:txBody>
      </p:sp>
      <p:sp>
        <p:nvSpPr>
          <p:cNvPr id="9" name="Text 6"/>
          <p:cNvSpPr txBox="1"/>
          <p:nvPr/>
        </p:nvSpPr>
        <p:spPr>
          <a:xfrm>
            <a:off x="1280160" y="5212080"/>
            <a:ext cx="9628632" cy="457200"/>
          </a:xfrm>
          <a:prstGeom prst="rect">
            <a:avLst/>
          </a:prstGeom>
          <a:noFill/>
          <a:ln/>
        </p:spPr>
        <p:txBody>
          <a:bodyPr wrap="square" lIns="0" tIns="0" rIns="0" bIns="0" rtlCol="0" anchor="ctr"/>
          <a:lstStyle/>
          <a:p>
            <a:pPr algn="ctr" indent="0" marL="0">
              <a:buNone/>
            </a:pPr>
            <a:r>
              <a:rPr lang="en-US" sz="1400" dirty="0">
                <a:solidFill>
                  <a:srgbClr val="4D4D4D"/>
                </a:solidFill>
                <a:latin typeface="Calibri" pitchFamily="34" charset="0"/>
                <a:ea typeface="Calibri" pitchFamily="34" charset="-122"/>
                <a:cs typeface="Calibri" pitchFamily="34" charset="-120"/>
              </a:rPr>
              <a:t>The Problem  →  What We Built  →  What To Do</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5E5E5"/>
        </a:solidFill>
      </p:bgPr>
    </p:bg>
    <p:spTree>
      <p:nvGrpSpPr>
        <p:cNvPr id="1" name=""/>
        <p:cNvGrpSpPr/>
        <p:nvPr/>
      </p:nvGrpSpPr>
      <p:grpSpPr>
        <a:xfrm>
          <a:off x="0" y="0"/>
          <a:ext cx="0" cy="0"/>
          <a:chOff x="0" y="0"/>
          <a:chExt cx="0" cy="0"/>
        </a:xfrm>
      </p:grpSpPr>
      <p:sp>
        <p:nvSpPr>
          <p:cNvPr id="2" name="Shape 0"/>
          <p:cNvSpPr/>
          <p:nvPr/>
        </p:nvSpPr>
        <p:spPr>
          <a:xfrm>
            <a:off x="0" y="0"/>
            <a:ext cx="12191695" cy="1051560"/>
          </a:xfrm>
          <a:prstGeom prst="rect">
            <a:avLst/>
          </a:prstGeom>
          <a:solidFill>
            <a:srgbClr val="A6A6A6"/>
          </a:solidFill>
          <a:ln w="12700">
            <a:solidFill>
              <a:srgbClr val="A6A6A6"/>
            </a:solidFill>
            <a:prstDash val="solid"/>
          </a:ln>
        </p:spPr>
      </p:sp>
      <p:sp>
        <p:nvSpPr>
          <p:cNvPr id="3" name="Text 1"/>
          <p:cNvSpPr txBox="1"/>
          <p:nvPr/>
        </p:nvSpPr>
        <p:spPr>
          <a:xfrm>
            <a:off x="548640" y="0"/>
            <a:ext cx="11064240" cy="1051560"/>
          </a:xfrm>
          <a:prstGeom prst="rect">
            <a:avLst/>
          </a:prstGeom>
          <a:noFill/>
          <a:ln/>
        </p:spPr>
        <p:txBody>
          <a:bodyPr wrap="square" lIns="0" tIns="0" rIns="0" bIns="0" rtlCol="0" anchor="ctr"/>
          <a:lstStyle/>
          <a:p>
            <a:pPr indent="0" marL="0">
              <a:buNone/>
            </a:pPr>
            <a:r>
              <a:rPr lang="en-US" sz="3000" b="1" dirty="0">
                <a:solidFill>
                  <a:srgbClr val="000000"/>
                </a:solidFill>
                <a:latin typeface="Cambria" pitchFamily="34" charset="0"/>
                <a:ea typeface="Cambria" pitchFamily="34" charset="-122"/>
                <a:cs typeface="Cambria" pitchFamily="34" charset="-120"/>
              </a:rPr>
              <a:t>The Business Problem</a:t>
            </a:r>
            <a:endParaRPr lang="en-US" sz="3000" dirty="0"/>
          </a:p>
        </p:txBody>
      </p:sp>
      <p:sp>
        <p:nvSpPr>
          <p:cNvPr id="4" name="Shape 2"/>
          <p:cNvSpPr/>
          <p:nvPr/>
        </p:nvSpPr>
        <p:spPr>
          <a:xfrm>
            <a:off x="548640" y="1325880"/>
            <a:ext cx="6583680" cy="1691640"/>
          </a:xfrm>
          <a:prstGeom prst="roundRect">
            <a:avLst>
              <a:gd name="adj" fmla="val 5405"/>
            </a:avLst>
          </a:prstGeom>
          <a:solidFill>
            <a:srgbClr val="FFFFFF"/>
          </a:solidFill>
          <a:ln w="12700">
            <a:solidFill>
              <a:srgbClr val="BFBFBF"/>
            </a:solidFill>
            <a:prstDash val="solid"/>
          </a:ln>
          <a:effectLst>
            <a:outerShdw sx="100000" sy="100000" kx="0" ky="0" algn="bl" rotWithShape="0" blurRad="101600" dist="25400" dir="5400000">
              <a:srgbClr val="000000">
                <a:alpha val="15000"/>
              </a:srgbClr>
            </a:outerShdw>
          </a:effectLst>
        </p:spPr>
      </p:sp>
      <p:sp>
        <p:nvSpPr>
          <p:cNvPr id="5" name="Shape 3"/>
          <p:cNvSpPr/>
          <p:nvPr/>
        </p:nvSpPr>
        <p:spPr>
          <a:xfrm>
            <a:off x="822960" y="1645920"/>
            <a:ext cx="1051560" cy="1051560"/>
          </a:xfrm>
          <a:prstGeom prst="ellipse">
            <a:avLst/>
          </a:prstGeom>
          <a:solidFill>
            <a:srgbClr val="CB403C"/>
          </a:solidFill>
          <a:ln w="12700">
            <a:solidFill>
              <a:srgbClr val="CB403C"/>
            </a:solidFill>
            <a:prstDash val="solid"/>
          </a:ln>
        </p:spPr>
      </p:sp>
      <p:pic>
        <p:nvPicPr>
          <p:cNvPr id="6" name="Image 0" descr="preencoded.png">    </p:cNvPr>
          <p:cNvPicPr>
            <a:picLocks noChangeAspect="1"/>
          </p:cNvPicPr>
          <p:nvPr/>
        </p:nvPicPr>
        <p:blipFill>
          <a:blip r:embed="rId1"/>
          <a:stretch>
            <a:fillRect/>
          </a:stretch>
        </p:blipFill>
        <p:spPr>
          <a:xfrm>
            <a:off x="1085850" y="1908810"/>
            <a:ext cx="525780" cy="525780"/>
          </a:xfrm>
          <a:prstGeom prst="rect">
            <a:avLst/>
          </a:prstGeom>
        </p:spPr>
      </p:pic>
      <p:sp>
        <p:nvSpPr>
          <p:cNvPr id="7" name="Text 4"/>
          <p:cNvSpPr txBox="1"/>
          <p:nvPr/>
        </p:nvSpPr>
        <p:spPr>
          <a:xfrm>
            <a:off x="2057400" y="1481328"/>
            <a:ext cx="4937760" cy="365760"/>
          </a:xfrm>
          <a:prstGeom prst="rect">
            <a:avLst/>
          </a:prstGeom>
          <a:noFill/>
          <a:ln/>
        </p:spPr>
        <p:txBody>
          <a:bodyPr wrap="square" lIns="0" tIns="0" rIns="0" bIns="0" rtlCol="0" anchor="ctr"/>
          <a:lstStyle/>
          <a:p>
            <a:pPr indent="0" marL="0">
              <a:buNone/>
            </a:pPr>
            <a:r>
              <a:rPr lang="en-US" sz="1500" b="1" dirty="0">
                <a:solidFill>
                  <a:srgbClr val="1A1A1A"/>
                </a:solidFill>
                <a:latin typeface="Calibri" pitchFamily="34" charset="0"/>
                <a:ea typeface="Calibri" pitchFamily="34" charset="-122"/>
                <a:cs typeface="Calibri" pitchFamily="34" charset="-120"/>
              </a:rPr>
              <a:t>Selling a lot is not the same as earning a lot</a:t>
            </a:r>
            <a:endParaRPr lang="en-US" sz="1500" dirty="0"/>
          </a:p>
        </p:txBody>
      </p:sp>
      <p:sp>
        <p:nvSpPr>
          <p:cNvPr id="8" name="Text 5"/>
          <p:cNvSpPr txBox="1"/>
          <p:nvPr/>
        </p:nvSpPr>
        <p:spPr>
          <a:xfrm>
            <a:off x="2057400" y="1901952"/>
            <a:ext cx="4937760" cy="1051560"/>
          </a:xfrm>
          <a:prstGeom prst="rect">
            <a:avLst/>
          </a:prstGeom>
          <a:noFill/>
          <a:ln/>
        </p:spPr>
        <p:txBody>
          <a:bodyPr wrap="square" lIns="0" tIns="0" rIns="0" bIns="0" rtlCol="0" anchor="t"/>
          <a:lstStyle/>
          <a:p>
            <a:pPr indent="0" marL="0">
              <a:buNone/>
            </a:pPr>
            <a:r>
              <a:rPr lang="en-US" sz="1400" dirty="0">
                <a:solidFill>
                  <a:srgbClr val="4D4D4D"/>
                </a:solidFill>
                <a:latin typeface="Calibri" pitchFamily="34" charset="0"/>
                <a:ea typeface="Calibri" pitchFamily="34" charset="-122"/>
                <a:cs typeface="Calibri" pitchFamily="34" charset="-120"/>
              </a:rPr>
              <a:t>TrendMart sells across many stores and products, but nobody can easily see where the money is really made or lost. Price cuts (discounts), product costs and returned items can quietly eat the profit.</a:t>
            </a:r>
            <a:endParaRPr lang="en-US" sz="1400" dirty="0"/>
          </a:p>
        </p:txBody>
      </p:sp>
      <p:sp>
        <p:nvSpPr>
          <p:cNvPr id="9" name="Shape 6"/>
          <p:cNvSpPr/>
          <p:nvPr/>
        </p:nvSpPr>
        <p:spPr>
          <a:xfrm>
            <a:off x="548640" y="3246120"/>
            <a:ext cx="6583680" cy="1325880"/>
          </a:xfrm>
          <a:prstGeom prst="roundRect">
            <a:avLst>
              <a:gd name="adj" fmla="val 6897"/>
            </a:avLst>
          </a:prstGeom>
          <a:solidFill>
            <a:srgbClr val="FFFFFF"/>
          </a:solidFill>
          <a:ln w="12700">
            <a:solidFill>
              <a:srgbClr val="BFBFBF"/>
            </a:solidFill>
            <a:prstDash val="solid"/>
          </a:ln>
          <a:effectLst>
            <a:outerShdw sx="100000" sy="100000" kx="0" ky="0" algn="bl" rotWithShape="0" blurRad="101600" dist="25400" dir="5400000">
              <a:srgbClr val="000000">
                <a:alpha val="15000"/>
              </a:srgbClr>
            </a:outerShdw>
          </a:effectLst>
        </p:spPr>
      </p:sp>
      <p:sp>
        <p:nvSpPr>
          <p:cNvPr id="10" name="Text 7"/>
          <p:cNvSpPr txBox="1"/>
          <p:nvPr/>
        </p:nvSpPr>
        <p:spPr>
          <a:xfrm>
            <a:off x="868680" y="3337560"/>
            <a:ext cx="5943600" cy="777240"/>
          </a:xfrm>
          <a:prstGeom prst="rect">
            <a:avLst/>
          </a:prstGeom>
          <a:noFill/>
          <a:ln/>
        </p:spPr>
        <p:txBody>
          <a:bodyPr wrap="square" lIns="0" tIns="0" rIns="0" bIns="0" rtlCol="0" anchor="ctr"/>
          <a:lstStyle/>
          <a:p>
            <a:pPr indent="0" marL="0">
              <a:buNone/>
            </a:pPr>
            <a:r>
              <a:rPr lang="en-US" sz="1600" b="1" i="1" dirty="0">
                <a:solidFill>
                  <a:srgbClr val="3972B9"/>
                </a:solidFill>
                <a:latin typeface="Calibri" pitchFamily="34" charset="0"/>
                <a:ea typeface="Calibri" pitchFamily="34" charset="-122"/>
                <a:cs typeface="Calibri" pitchFamily="34" charset="-120"/>
              </a:rPr>
              <a:t>“Where are we losing profit even though we are selling well — and which areas need attention?”</a:t>
            </a:r>
            <a:endParaRPr lang="en-US" sz="1600" dirty="0"/>
          </a:p>
        </p:txBody>
      </p:sp>
      <p:sp>
        <p:nvSpPr>
          <p:cNvPr id="11" name="Text 8"/>
          <p:cNvSpPr txBox="1"/>
          <p:nvPr/>
        </p:nvSpPr>
        <p:spPr>
          <a:xfrm>
            <a:off x="868680" y="4160520"/>
            <a:ext cx="5943600" cy="274320"/>
          </a:xfrm>
          <a:prstGeom prst="rect">
            <a:avLst/>
          </a:prstGeom>
          <a:noFill/>
          <a:ln/>
        </p:spPr>
        <p:txBody>
          <a:bodyPr wrap="square" lIns="0" tIns="0" rIns="0" bIns="0" rtlCol="0" anchor="ctr"/>
          <a:lstStyle/>
          <a:p>
            <a:pPr indent="0" marL="0">
              <a:buNone/>
            </a:pPr>
            <a:r>
              <a:rPr lang="en-US" sz="1200" dirty="0">
                <a:solidFill>
                  <a:srgbClr val="4D4D4D"/>
                </a:solidFill>
                <a:latin typeface="Calibri" pitchFamily="34" charset="0"/>
                <a:ea typeface="Calibri" pitchFamily="34" charset="-122"/>
                <a:cs typeface="Calibri" pitchFamily="34" charset="-120"/>
              </a:rPr>
              <a:t>The question this project answers</a:t>
            </a:r>
            <a:endParaRPr lang="en-US" sz="1200" dirty="0"/>
          </a:p>
        </p:txBody>
      </p:sp>
      <p:sp>
        <p:nvSpPr>
          <p:cNvPr id="12" name="Text 9"/>
          <p:cNvSpPr txBox="1"/>
          <p:nvPr/>
        </p:nvSpPr>
        <p:spPr>
          <a:xfrm>
            <a:off x="7360920" y="1325880"/>
            <a:ext cx="4251960" cy="365760"/>
          </a:xfrm>
          <a:prstGeom prst="rect">
            <a:avLst/>
          </a:prstGeom>
          <a:noFill/>
          <a:ln/>
        </p:spPr>
        <p:txBody>
          <a:bodyPr wrap="square" lIns="0" tIns="0" rIns="0" bIns="0" rtlCol="0" anchor="ctr"/>
          <a:lstStyle/>
          <a:p>
            <a:pPr indent="0" marL="0">
              <a:buNone/>
            </a:pPr>
            <a:r>
              <a:rPr lang="en-US" sz="1500" b="1" dirty="0">
                <a:solidFill>
                  <a:srgbClr val="3972B9"/>
                </a:solidFill>
                <a:latin typeface="Calibri" pitchFamily="34" charset="0"/>
                <a:ea typeface="Calibri" pitchFamily="34" charset="-122"/>
                <a:cs typeface="Calibri" pitchFamily="34" charset="-120"/>
              </a:rPr>
              <a:t>What We Looked At</a:t>
            </a:r>
            <a:endParaRPr lang="en-US" sz="1500" dirty="0"/>
          </a:p>
        </p:txBody>
      </p:sp>
      <p:sp>
        <p:nvSpPr>
          <p:cNvPr id="13" name="Shape 10"/>
          <p:cNvSpPr/>
          <p:nvPr/>
        </p:nvSpPr>
        <p:spPr>
          <a:xfrm>
            <a:off x="7360920" y="1783080"/>
            <a:ext cx="384048" cy="384048"/>
          </a:xfrm>
          <a:prstGeom prst="ellipse">
            <a:avLst/>
          </a:prstGeom>
          <a:solidFill>
            <a:srgbClr val="3972B9"/>
          </a:solidFill>
          <a:ln w="12700">
            <a:solidFill>
              <a:srgbClr val="3972B9"/>
            </a:solidFill>
            <a:prstDash val="solid"/>
          </a:ln>
        </p:spPr>
      </p:sp>
      <p:pic>
        <p:nvPicPr>
          <p:cNvPr id="14" name="Image 1" descr="preencoded.png">    </p:cNvPr>
          <p:cNvPicPr>
            <a:picLocks noChangeAspect="1"/>
          </p:cNvPicPr>
          <p:nvPr/>
        </p:nvPicPr>
        <p:blipFill>
          <a:blip r:embed="rId2"/>
          <a:stretch>
            <a:fillRect/>
          </a:stretch>
        </p:blipFill>
        <p:spPr>
          <a:xfrm>
            <a:off x="7456932" y="1879092"/>
            <a:ext cx="192024" cy="192024"/>
          </a:xfrm>
          <a:prstGeom prst="rect">
            <a:avLst/>
          </a:prstGeom>
        </p:spPr>
      </p:pic>
      <p:sp>
        <p:nvSpPr>
          <p:cNvPr id="15" name="Text 11"/>
          <p:cNvSpPr txBox="1"/>
          <p:nvPr/>
        </p:nvSpPr>
        <p:spPr>
          <a:xfrm>
            <a:off x="7909560" y="1783080"/>
            <a:ext cx="3703320" cy="384048"/>
          </a:xfrm>
          <a:prstGeom prst="rect">
            <a:avLst/>
          </a:prstGeom>
          <a:noFill/>
          <a:ln/>
        </p:spPr>
        <p:txBody>
          <a:bodyPr wrap="square" lIns="0" tIns="0" rIns="0" bIns="0" rtlCol="0" anchor="ctr"/>
          <a:lstStyle/>
          <a:p>
            <a:pPr indent="0" marL="0">
              <a:buNone/>
            </a:pPr>
            <a:r>
              <a:rPr lang="en-US" sz="1400" dirty="0">
                <a:solidFill>
                  <a:srgbClr val="1A1A1A"/>
                </a:solidFill>
                <a:latin typeface="Calibri" pitchFamily="34" charset="0"/>
                <a:ea typeface="Calibri" pitchFamily="34" charset="-122"/>
                <a:cs typeface="Calibri" pitchFamily="34" charset="-120"/>
              </a:rPr>
              <a:t>Sales and profit, month by month</a:t>
            </a:r>
            <a:endParaRPr lang="en-US" sz="1400" dirty="0"/>
          </a:p>
        </p:txBody>
      </p:sp>
      <p:sp>
        <p:nvSpPr>
          <p:cNvPr id="16" name="Shape 12"/>
          <p:cNvSpPr/>
          <p:nvPr/>
        </p:nvSpPr>
        <p:spPr>
          <a:xfrm>
            <a:off x="7360920" y="2240280"/>
            <a:ext cx="384048" cy="384048"/>
          </a:xfrm>
          <a:prstGeom prst="ellipse">
            <a:avLst/>
          </a:prstGeom>
          <a:solidFill>
            <a:srgbClr val="3972B9"/>
          </a:solidFill>
          <a:ln w="12700">
            <a:solidFill>
              <a:srgbClr val="3972B9"/>
            </a:solidFill>
            <a:prstDash val="solid"/>
          </a:ln>
        </p:spPr>
      </p:sp>
      <p:pic>
        <p:nvPicPr>
          <p:cNvPr id="17" name="Image 2" descr="preencoded.png">    </p:cNvPr>
          <p:cNvPicPr>
            <a:picLocks noChangeAspect="1"/>
          </p:cNvPicPr>
          <p:nvPr/>
        </p:nvPicPr>
        <p:blipFill>
          <a:blip r:embed="rId3"/>
          <a:stretch>
            <a:fillRect/>
          </a:stretch>
        </p:blipFill>
        <p:spPr>
          <a:xfrm>
            <a:off x="7456932" y="2336292"/>
            <a:ext cx="192024" cy="192024"/>
          </a:xfrm>
          <a:prstGeom prst="rect">
            <a:avLst/>
          </a:prstGeom>
        </p:spPr>
      </p:pic>
      <p:sp>
        <p:nvSpPr>
          <p:cNvPr id="18" name="Text 13"/>
          <p:cNvSpPr txBox="1"/>
          <p:nvPr/>
        </p:nvSpPr>
        <p:spPr>
          <a:xfrm>
            <a:off x="7909560" y="2240280"/>
            <a:ext cx="3703320" cy="384048"/>
          </a:xfrm>
          <a:prstGeom prst="rect">
            <a:avLst/>
          </a:prstGeom>
          <a:noFill/>
          <a:ln/>
        </p:spPr>
        <p:txBody>
          <a:bodyPr wrap="square" lIns="0" tIns="0" rIns="0" bIns="0" rtlCol="0" anchor="ctr"/>
          <a:lstStyle/>
          <a:p>
            <a:pPr indent="0" marL="0">
              <a:buNone/>
            </a:pPr>
            <a:r>
              <a:rPr lang="en-US" sz="1400" dirty="0">
                <a:solidFill>
                  <a:srgbClr val="1A1A1A"/>
                </a:solidFill>
                <a:latin typeface="Calibri" pitchFamily="34" charset="0"/>
                <a:ea typeface="Calibri" pitchFamily="34" charset="-122"/>
                <a:cs typeface="Calibri" pitchFamily="34" charset="-120"/>
              </a:rPr>
              <a:t>Price cuts (discounts)</a:t>
            </a:r>
            <a:endParaRPr lang="en-US" sz="1400" dirty="0"/>
          </a:p>
        </p:txBody>
      </p:sp>
      <p:sp>
        <p:nvSpPr>
          <p:cNvPr id="19" name="Shape 14"/>
          <p:cNvSpPr/>
          <p:nvPr/>
        </p:nvSpPr>
        <p:spPr>
          <a:xfrm>
            <a:off x="7360920" y="2697480"/>
            <a:ext cx="384048" cy="384048"/>
          </a:xfrm>
          <a:prstGeom prst="ellipse">
            <a:avLst/>
          </a:prstGeom>
          <a:solidFill>
            <a:srgbClr val="3972B9"/>
          </a:solidFill>
          <a:ln w="12700">
            <a:solidFill>
              <a:srgbClr val="3972B9"/>
            </a:solidFill>
            <a:prstDash val="solid"/>
          </a:ln>
        </p:spPr>
      </p:sp>
      <p:pic>
        <p:nvPicPr>
          <p:cNvPr id="20" name="Image 3" descr="preencoded.png">    </p:cNvPr>
          <p:cNvPicPr>
            <a:picLocks noChangeAspect="1"/>
          </p:cNvPicPr>
          <p:nvPr/>
        </p:nvPicPr>
        <p:blipFill>
          <a:blip r:embed="rId4"/>
          <a:stretch>
            <a:fillRect/>
          </a:stretch>
        </p:blipFill>
        <p:spPr>
          <a:xfrm>
            <a:off x="7456932" y="2793492"/>
            <a:ext cx="192024" cy="192024"/>
          </a:xfrm>
          <a:prstGeom prst="rect">
            <a:avLst/>
          </a:prstGeom>
        </p:spPr>
      </p:pic>
      <p:sp>
        <p:nvSpPr>
          <p:cNvPr id="21" name="Text 15"/>
          <p:cNvSpPr txBox="1"/>
          <p:nvPr/>
        </p:nvSpPr>
        <p:spPr>
          <a:xfrm>
            <a:off x="7909560" y="2697480"/>
            <a:ext cx="3703320" cy="384048"/>
          </a:xfrm>
          <a:prstGeom prst="rect">
            <a:avLst/>
          </a:prstGeom>
          <a:noFill/>
          <a:ln/>
        </p:spPr>
        <p:txBody>
          <a:bodyPr wrap="square" lIns="0" tIns="0" rIns="0" bIns="0" rtlCol="0" anchor="ctr"/>
          <a:lstStyle/>
          <a:p>
            <a:pPr indent="0" marL="0">
              <a:buNone/>
            </a:pPr>
            <a:r>
              <a:rPr lang="en-US" sz="1400" dirty="0">
                <a:solidFill>
                  <a:srgbClr val="1A1A1A"/>
                </a:solidFill>
                <a:latin typeface="Calibri" pitchFamily="34" charset="0"/>
                <a:ea typeface="Calibri" pitchFamily="34" charset="-122"/>
                <a:cs typeface="Calibri" pitchFamily="34" charset="-120"/>
              </a:rPr>
              <a:t>Types of products</a:t>
            </a:r>
            <a:endParaRPr lang="en-US" sz="1400" dirty="0"/>
          </a:p>
        </p:txBody>
      </p:sp>
      <p:sp>
        <p:nvSpPr>
          <p:cNvPr id="22" name="Shape 16"/>
          <p:cNvSpPr/>
          <p:nvPr/>
        </p:nvSpPr>
        <p:spPr>
          <a:xfrm>
            <a:off x="7360920" y="3154680"/>
            <a:ext cx="384048" cy="384048"/>
          </a:xfrm>
          <a:prstGeom prst="ellipse">
            <a:avLst/>
          </a:prstGeom>
          <a:solidFill>
            <a:srgbClr val="3972B9"/>
          </a:solidFill>
          <a:ln w="12700">
            <a:solidFill>
              <a:srgbClr val="3972B9"/>
            </a:solidFill>
            <a:prstDash val="solid"/>
          </a:ln>
        </p:spPr>
      </p:sp>
      <p:pic>
        <p:nvPicPr>
          <p:cNvPr id="23" name="Image 4" descr="preencoded.png">    </p:cNvPr>
          <p:cNvPicPr>
            <a:picLocks noChangeAspect="1"/>
          </p:cNvPicPr>
          <p:nvPr/>
        </p:nvPicPr>
        <p:blipFill>
          <a:blip r:embed="rId5"/>
          <a:stretch>
            <a:fillRect/>
          </a:stretch>
        </p:blipFill>
        <p:spPr>
          <a:xfrm>
            <a:off x="7456932" y="3250692"/>
            <a:ext cx="192024" cy="192024"/>
          </a:xfrm>
          <a:prstGeom prst="rect">
            <a:avLst/>
          </a:prstGeom>
        </p:spPr>
      </p:pic>
      <p:sp>
        <p:nvSpPr>
          <p:cNvPr id="24" name="Text 17"/>
          <p:cNvSpPr txBox="1"/>
          <p:nvPr/>
        </p:nvSpPr>
        <p:spPr>
          <a:xfrm>
            <a:off x="7909560" y="3154680"/>
            <a:ext cx="3703320" cy="384048"/>
          </a:xfrm>
          <a:prstGeom prst="rect">
            <a:avLst/>
          </a:prstGeom>
          <a:noFill/>
          <a:ln/>
        </p:spPr>
        <p:txBody>
          <a:bodyPr wrap="square" lIns="0" tIns="0" rIns="0" bIns="0" rtlCol="0" anchor="ctr"/>
          <a:lstStyle/>
          <a:p>
            <a:pPr indent="0" marL="0">
              <a:buNone/>
            </a:pPr>
            <a:r>
              <a:rPr lang="en-US" sz="1400" dirty="0">
                <a:solidFill>
                  <a:srgbClr val="1A1A1A"/>
                </a:solidFill>
                <a:latin typeface="Calibri" pitchFamily="34" charset="0"/>
                <a:ea typeface="Calibri" pitchFamily="34" charset="-122"/>
                <a:cs typeface="Calibri" pitchFamily="34" charset="-120"/>
              </a:rPr>
              <a:t>Online vs in-store sales</a:t>
            </a:r>
            <a:endParaRPr lang="en-US" sz="1400" dirty="0"/>
          </a:p>
        </p:txBody>
      </p:sp>
      <p:sp>
        <p:nvSpPr>
          <p:cNvPr id="25" name="Shape 18"/>
          <p:cNvSpPr/>
          <p:nvPr/>
        </p:nvSpPr>
        <p:spPr>
          <a:xfrm>
            <a:off x="7360920" y="3611880"/>
            <a:ext cx="384048" cy="384048"/>
          </a:xfrm>
          <a:prstGeom prst="ellipse">
            <a:avLst/>
          </a:prstGeom>
          <a:solidFill>
            <a:srgbClr val="3972B9"/>
          </a:solidFill>
          <a:ln w="12700">
            <a:solidFill>
              <a:srgbClr val="3972B9"/>
            </a:solidFill>
            <a:prstDash val="solid"/>
          </a:ln>
        </p:spPr>
      </p:sp>
      <p:pic>
        <p:nvPicPr>
          <p:cNvPr id="26" name="Image 5" descr="preencoded.png">    </p:cNvPr>
          <p:cNvPicPr>
            <a:picLocks noChangeAspect="1"/>
          </p:cNvPicPr>
          <p:nvPr/>
        </p:nvPicPr>
        <p:blipFill>
          <a:blip r:embed="rId6"/>
          <a:stretch>
            <a:fillRect/>
          </a:stretch>
        </p:blipFill>
        <p:spPr>
          <a:xfrm>
            <a:off x="7456932" y="3707892"/>
            <a:ext cx="192024" cy="192024"/>
          </a:xfrm>
          <a:prstGeom prst="rect">
            <a:avLst/>
          </a:prstGeom>
        </p:spPr>
      </p:pic>
      <p:sp>
        <p:nvSpPr>
          <p:cNvPr id="27" name="Text 19"/>
          <p:cNvSpPr txBox="1"/>
          <p:nvPr/>
        </p:nvSpPr>
        <p:spPr>
          <a:xfrm>
            <a:off x="7909560" y="3611880"/>
            <a:ext cx="3703320" cy="384048"/>
          </a:xfrm>
          <a:prstGeom prst="rect">
            <a:avLst/>
          </a:prstGeom>
          <a:noFill/>
          <a:ln/>
        </p:spPr>
        <p:txBody>
          <a:bodyPr wrap="square" lIns="0" tIns="0" rIns="0" bIns="0" rtlCol="0" anchor="ctr"/>
          <a:lstStyle/>
          <a:p>
            <a:pPr indent="0" marL="0">
              <a:buNone/>
            </a:pPr>
            <a:r>
              <a:rPr lang="en-US" sz="1400" dirty="0">
                <a:solidFill>
                  <a:srgbClr val="1A1A1A"/>
                </a:solidFill>
                <a:latin typeface="Calibri" pitchFamily="34" charset="0"/>
                <a:ea typeface="Calibri" pitchFamily="34" charset="-122"/>
                <a:cs typeface="Calibri" pitchFamily="34" charset="-120"/>
              </a:rPr>
              <a:t>Sales by state and city</a:t>
            </a:r>
            <a:endParaRPr lang="en-US" sz="1400" dirty="0"/>
          </a:p>
        </p:txBody>
      </p:sp>
      <p:sp>
        <p:nvSpPr>
          <p:cNvPr id="28" name="Shape 20"/>
          <p:cNvSpPr/>
          <p:nvPr/>
        </p:nvSpPr>
        <p:spPr>
          <a:xfrm>
            <a:off x="7360920" y="4069080"/>
            <a:ext cx="384048" cy="384048"/>
          </a:xfrm>
          <a:prstGeom prst="ellipse">
            <a:avLst/>
          </a:prstGeom>
          <a:solidFill>
            <a:srgbClr val="3972B9"/>
          </a:solidFill>
          <a:ln w="12700">
            <a:solidFill>
              <a:srgbClr val="3972B9"/>
            </a:solidFill>
            <a:prstDash val="solid"/>
          </a:ln>
        </p:spPr>
      </p:sp>
      <p:pic>
        <p:nvPicPr>
          <p:cNvPr id="29" name="Image 6" descr="preencoded.png">    </p:cNvPr>
          <p:cNvPicPr>
            <a:picLocks noChangeAspect="1"/>
          </p:cNvPicPr>
          <p:nvPr/>
        </p:nvPicPr>
        <p:blipFill>
          <a:blip r:embed="rId7"/>
          <a:stretch>
            <a:fillRect/>
          </a:stretch>
        </p:blipFill>
        <p:spPr>
          <a:xfrm>
            <a:off x="7456932" y="4165092"/>
            <a:ext cx="192024" cy="192024"/>
          </a:xfrm>
          <a:prstGeom prst="rect">
            <a:avLst/>
          </a:prstGeom>
        </p:spPr>
      </p:pic>
      <p:sp>
        <p:nvSpPr>
          <p:cNvPr id="30" name="Text 21"/>
          <p:cNvSpPr txBox="1"/>
          <p:nvPr/>
        </p:nvSpPr>
        <p:spPr>
          <a:xfrm>
            <a:off x="7909560" y="4069080"/>
            <a:ext cx="3703320" cy="384048"/>
          </a:xfrm>
          <a:prstGeom prst="rect">
            <a:avLst/>
          </a:prstGeom>
          <a:noFill/>
          <a:ln/>
        </p:spPr>
        <p:txBody>
          <a:bodyPr wrap="square" lIns="0" tIns="0" rIns="0" bIns="0" rtlCol="0" anchor="ctr"/>
          <a:lstStyle/>
          <a:p>
            <a:pPr indent="0" marL="0">
              <a:buNone/>
            </a:pPr>
            <a:r>
              <a:rPr lang="en-US" sz="1400" dirty="0">
                <a:solidFill>
                  <a:srgbClr val="1A1A1A"/>
                </a:solidFill>
                <a:latin typeface="Calibri" pitchFamily="34" charset="0"/>
                <a:ea typeface="Calibri" pitchFamily="34" charset="-122"/>
                <a:cs typeface="Calibri" pitchFamily="34" charset="-120"/>
              </a:rPr>
              <a:t>Our 10 best-selling stores</a:t>
            </a:r>
            <a:endParaRPr lang="en-US" sz="1400" dirty="0"/>
          </a:p>
        </p:txBody>
      </p:sp>
      <p:sp>
        <p:nvSpPr>
          <p:cNvPr id="31" name="Shape 22"/>
          <p:cNvSpPr/>
          <p:nvPr/>
        </p:nvSpPr>
        <p:spPr>
          <a:xfrm>
            <a:off x="548640" y="4846320"/>
            <a:ext cx="2601468" cy="1371600"/>
          </a:xfrm>
          <a:prstGeom prst="roundRect">
            <a:avLst>
              <a:gd name="adj" fmla="val 6667"/>
            </a:avLst>
          </a:prstGeom>
          <a:solidFill>
            <a:srgbClr val="A6A6A6"/>
          </a:solidFill>
          <a:ln w="25400">
            <a:solidFill>
              <a:srgbClr val="FFFFFF"/>
            </a:solidFill>
            <a:prstDash val="solid"/>
          </a:ln>
          <a:effectLst>
            <a:outerShdw sx="100000" sy="100000" kx="0" ky="0" algn="bl" rotWithShape="0" blurRad="101600" dist="25400" dir="5400000">
              <a:srgbClr val="000000">
                <a:alpha val="15000"/>
              </a:srgbClr>
            </a:outerShdw>
          </a:effectLst>
        </p:spPr>
      </p:sp>
      <p:sp>
        <p:nvSpPr>
          <p:cNvPr id="32" name="Text 23"/>
          <p:cNvSpPr txBox="1"/>
          <p:nvPr/>
        </p:nvSpPr>
        <p:spPr>
          <a:xfrm>
            <a:off x="548640" y="4937760"/>
            <a:ext cx="2601468" cy="530352"/>
          </a:xfrm>
          <a:prstGeom prst="rect">
            <a:avLst/>
          </a:prstGeom>
          <a:noFill/>
          <a:ln/>
        </p:spPr>
        <p:txBody>
          <a:bodyPr wrap="square" lIns="0" tIns="0" rIns="0" bIns="0" rtlCol="0" anchor="ctr"/>
          <a:lstStyle/>
          <a:p>
            <a:pPr algn="ctr" indent="0" marL="0">
              <a:buNone/>
            </a:pPr>
            <a:r>
              <a:rPr lang="en-US" sz="2800" b="1" dirty="0">
                <a:solidFill>
                  <a:srgbClr val="000000"/>
                </a:solidFill>
                <a:latin typeface="Cambria" pitchFamily="34" charset="0"/>
                <a:ea typeface="Cambria" pitchFamily="34" charset="-122"/>
                <a:cs typeface="Cambria" pitchFamily="34" charset="-120"/>
              </a:rPr>
              <a:t>₹92.27L</a:t>
            </a:r>
            <a:endParaRPr lang="en-US" sz="2800" dirty="0"/>
          </a:p>
        </p:txBody>
      </p:sp>
      <p:sp>
        <p:nvSpPr>
          <p:cNvPr id="33" name="Text 24"/>
          <p:cNvSpPr txBox="1"/>
          <p:nvPr/>
        </p:nvSpPr>
        <p:spPr>
          <a:xfrm>
            <a:off x="548640" y="5486400"/>
            <a:ext cx="2601468" cy="292608"/>
          </a:xfrm>
          <a:prstGeom prst="rect">
            <a:avLst/>
          </a:prstGeom>
          <a:noFill/>
          <a:ln/>
        </p:spPr>
        <p:txBody>
          <a:bodyPr wrap="square" lIns="0" tIns="0" rIns="0" bIns="0" rtlCol="0" anchor="ctr"/>
          <a:lstStyle/>
          <a:p>
            <a:pPr algn="ctr" indent="0" marL="0">
              <a:buNone/>
            </a:pPr>
            <a:r>
              <a:rPr lang="en-US" sz="1500" b="1" dirty="0">
                <a:solidFill>
                  <a:srgbClr val="000000"/>
                </a:solidFill>
                <a:latin typeface="Calibri" pitchFamily="34" charset="0"/>
                <a:ea typeface="Calibri" pitchFamily="34" charset="-122"/>
                <a:cs typeface="Calibri" pitchFamily="34" charset="-120"/>
              </a:rPr>
              <a:t>Total Sales</a:t>
            </a:r>
            <a:endParaRPr lang="en-US" sz="1500" dirty="0"/>
          </a:p>
        </p:txBody>
      </p:sp>
      <p:sp>
        <p:nvSpPr>
          <p:cNvPr id="34" name="Text 25"/>
          <p:cNvSpPr txBox="1"/>
          <p:nvPr/>
        </p:nvSpPr>
        <p:spPr>
          <a:xfrm>
            <a:off x="548640" y="5797296"/>
            <a:ext cx="2601468" cy="274320"/>
          </a:xfrm>
          <a:prstGeom prst="rect">
            <a:avLst/>
          </a:prstGeom>
          <a:noFill/>
          <a:ln/>
        </p:spPr>
        <p:txBody>
          <a:bodyPr wrap="square" lIns="0" tIns="0" rIns="0" bIns="0" rtlCol="0" anchor="ctr"/>
          <a:lstStyle/>
          <a:p>
            <a:pPr algn="ctr" indent="0" marL="0">
              <a:buNone/>
            </a:pPr>
            <a:r>
              <a:rPr lang="en-US" sz="1200" dirty="0">
                <a:solidFill>
                  <a:srgbClr val="1A1A1A"/>
                </a:solidFill>
                <a:latin typeface="Calibri" pitchFamily="34" charset="0"/>
                <a:ea typeface="Calibri" pitchFamily="34" charset="-122"/>
                <a:cs typeface="Calibri" pitchFamily="34" charset="-120"/>
              </a:rPr>
              <a:t>Money customers paid us</a:t>
            </a:r>
            <a:endParaRPr lang="en-US" sz="1200" dirty="0"/>
          </a:p>
        </p:txBody>
      </p:sp>
      <p:sp>
        <p:nvSpPr>
          <p:cNvPr id="35" name="Shape 26"/>
          <p:cNvSpPr/>
          <p:nvPr/>
        </p:nvSpPr>
        <p:spPr>
          <a:xfrm>
            <a:off x="3378708" y="4846320"/>
            <a:ext cx="2601468" cy="1371600"/>
          </a:xfrm>
          <a:prstGeom prst="roundRect">
            <a:avLst>
              <a:gd name="adj" fmla="val 6667"/>
            </a:avLst>
          </a:prstGeom>
          <a:solidFill>
            <a:srgbClr val="A6A6A6"/>
          </a:solidFill>
          <a:ln w="25400">
            <a:solidFill>
              <a:srgbClr val="FFFFFF"/>
            </a:solidFill>
            <a:prstDash val="solid"/>
          </a:ln>
          <a:effectLst>
            <a:outerShdw sx="100000" sy="100000" kx="0" ky="0" algn="bl" rotWithShape="0" blurRad="101600" dist="25400" dir="5400000">
              <a:srgbClr val="000000">
                <a:alpha val="15000"/>
              </a:srgbClr>
            </a:outerShdw>
          </a:effectLst>
        </p:spPr>
      </p:sp>
      <p:sp>
        <p:nvSpPr>
          <p:cNvPr id="36" name="Text 27"/>
          <p:cNvSpPr txBox="1"/>
          <p:nvPr/>
        </p:nvSpPr>
        <p:spPr>
          <a:xfrm>
            <a:off x="3378708" y="4937760"/>
            <a:ext cx="2601468" cy="530352"/>
          </a:xfrm>
          <a:prstGeom prst="rect">
            <a:avLst/>
          </a:prstGeom>
          <a:noFill/>
          <a:ln/>
        </p:spPr>
        <p:txBody>
          <a:bodyPr wrap="square" lIns="0" tIns="0" rIns="0" bIns="0" rtlCol="0" anchor="ctr"/>
          <a:lstStyle/>
          <a:p>
            <a:pPr algn="ctr" indent="0" marL="0">
              <a:buNone/>
            </a:pPr>
            <a:r>
              <a:rPr lang="en-US" sz="2800" b="1" dirty="0">
                <a:solidFill>
                  <a:srgbClr val="000000"/>
                </a:solidFill>
                <a:latin typeface="Cambria" pitchFamily="34" charset="0"/>
                <a:ea typeface="Cambria" pitchFamily="34" charset="-122"/>
                <a:cs typeface="Cambria" pitchFamily="34" charset="-120"/>
              </a:rPr>
              <a:t>₹18.01L</a:t>
            </a:r>
            <a:endParaRPr lang="en-US" sz="2800" dirty="0"/>
          </a:p>
        </p:txBody>
      </p:sp>
      <p:sp>
        <p:nvSpPr>
          <p:cNvPr id="37" name="Text 28"/>
          <p:cNvSpPr txBox="1"/>
          <p:nvPr/>
        </p:nvSpPr>
        <p:spPr>
          <a:xfrm>
            <a:off x="3378708" y="5486400"/>
            <a:ext cx="2601468" cy="292608"/>
          </a:xfrm>
          <a:prstGeom prst="rect">
            <a:avLst/>
          </a:prstGeom>
          <a:noFill/>
          <a:ln/>
        </p:spPr>
        <p:txBody>
          <a:bodyPr wrap="square" lIns="0" tIns="0" rIns="0" bIns="0" rtlCol="0" anchor="ctr"/>
          <a:lstStyle/>
          <a:p>
            <a:pPr algn="ctr" indent="0" marL="0">
              <a:buNone/>
            </a:pPr>
            <a:r>
              <a:rPr lang="en-US" sz="1500" b="1" dirty="0">
                <a:solidFill>
                  <a:srgbClr val="000000"/>
                </a:solidFill>
                <a:latin typeface="Calibri" pitchFamily="34" charset="0"/>
                <a:ea typeface="Calibri" pitchFamily="34" charset="-122"/>
                <a:cs typeface="Calibri" pitchFamily="34" charset="-120"/>
              </a:rPr>
              <a:t>Total Profit</a:t>
            </a:r>
            <a:endParaRPr lang="en-US" sz="1500" dirty="0"/>
          </a:p>
        </p:txBody>
      </p:sp>
      <p:sp>
        <p:nvSpPr>
          <p:cNvPr id="38" name="Text 29"/>
          <p:cNvSpPr txBox="1"/>
          <p:nvPr/>
        </p:nvSpPr>
        <p:spPr>
          <a:xfrm>
            <a:off x="3378708" y="5797296"/>
            <a:ext cx="2601468" cy="274320"/>
          </a:xfrm>
          <a:prstGeom prst="rect">
            <a:avLst/>
          </a:prstGeom>
          <a:noFill/>
          <a:ln/>
        </p:spPr>
        <p:txBody>
          <a:bodyPr wrap="square" lIns="0" tIns="0" rIns="0" bIns="0" rtlCol="0" anchor="ctr"/>
          <a:lstStyle/>
          <a:p>
            <a:pPr algn="ctr" indent="0" marL="0">
              <a:buNone/>
            </a:pPr>
            <a:r>
              <a:rPr lang="en-US" sz="1200" dirty="0">
                <a:solidFill>
                  <a:srgbClr val="1A1A1A"/>
                </a:solidFill>
                <a:latin typeface="Calibri" pitchFamily="34" charset="0"/>
                <a:ea typeface="Calibri" pitchFamily="34" charset="-122"/>
                <a:cs typeface="Calibri" pitchFamily="34" charset="-120"/>
              </a:rPr>
              <a:t>Money left after costs</a:t>
            </a:r>
            <a:endParaRPr lang="en-US" sz="1200" dirty="0"/>
          </a:p>
        </p:txBody>
      </p:sp>
      <p:sp>
        <p:nvSpPr>
          <p:cNvPr id="39" name="Shape 30"/>
          <p:cNvSpPr/>
          <p:nvPr/>
        </p:nvSpPr>
        <p:spPr>
          <a:xfrm>
            <a:off x="6208776" y="4846320"/>
            <a:ext cx="2601468" cy="1371600"/>
          </a:xfrm>
          <a:prstGeom prst="roundRect">
            <a:avLst>
              <a:gd name="adj" fmla="val 6667"/>
            </a:avLst>
          </a:prstGeom>
          <a:solidFill>
            <a:srgbClr val="A6A6A6"/>
          </a:solidFill>
          <a:ln w="25400">
            <a:solidFill>
              <a:srgbClr val="FFFFFF"/>
            </a:solidFill>
            <a:prstDash val="solid"/>
          </a:ln>
          <a:effectLst>
            <a:outerShdw sx="100000" sy="100000" kx="0" ky="0" algn="bl" rotWithShape="0" blurRad="101600" dist="25400" dir="5400000">
              <a:srgbClr val="000000">
                <a:alpha val="15000"/>
              </a:srgbClr>
            </a:outerShdw>
          </a:effectLst>
        </p:spPr>
      </p:sp>
      <p:sp>
        <p:nvSpPr>
          <p:cNvPr id="40" name="Text 31"/>
          <p:cNvSpPr txBox="1"/>
          <p:nvPr/>
        </p:nvSpPr>
        <p:spPr>
          <a:xfrm>
            <a:off x="6208776" y="4937760"/>
            <a:ext cx="2601468" cy="530352"/>
          </a:xfrm>
          <a:prstGeom prst="rect">
            <a:avLst/>
          </a:prstGeom>
          <a:noFill/>
          <a:ln/>
        </p:spPr>
        <p:txBody>
          <a:bodyPr wrap="square" lIns="0" tIns="0" rIns="0" bIns="0" rtlCol="0" anchor="ctr"/>
          <a:lstStyle/>
          <a:p>
            <a:pPr algn="ctr" indent="0" marL="0">
              <a:buNone/>
            </a:pPr>
            <a:r>
              <a:rPr lang="en-US" sz="2800" b="1" dirty="0">
                <a:solidFill>
                  <a:srgbClr val="000000"/>
                </a:solidFill>
                <a:latin typeface="Cambria" pitchFamily="34" charset="0"/>
                <a:ea typeface="Cambria" pitchFamily="34" charset="-122"/>
                <a:cs typeface="Cambria" pitchFamily="34" charset="-120"/>
              </a:rPr>
              <a:t>19.52%</a:t>
            </a:r>
            <a:endParaRPr lang="en-US" sz="2800" dirty="0"/>
          </a:p>
        </p:txBody>
      </p:sp>
      <p:sp>
        <p:nvSpPr>
          <p:cNvPr id="41" name="Text 32"/>
          <p:cNvSpPr txBox="1"/>
          <p:nvPr/>
        </p:nvSpPr>
        <p:spPr>
          <a:xfrm>
            <a:off x="6208776" y="5486400"/>
            <a:ext cx="2601468" cy="292608"/>
          </a:xfrm>
          <a:prstGeom prst="rect">
            <a:avLst/>
          </a:prstGeom>
          <a:noFill/>
          <a:ln/>
        </p:spPr>
        <p:txBody>
          <a:bodyPr wrap="square" lIns="0" tIns="0" rIns="0" bIns="0" rtlCol="0" anchor="ctr"/>
          <a:lstStyle/>
          <a:p>
            <a:pPr algn="ctr" indent="0" marL="0">
              <a:buNone/>
            </a:pPr>
            <a:r>
              <a:rPr lang="en-US" sz="1500" b="1" dirty="0">
                <a:solidFill>
                  <a:srgbClr val="000000"/>
                </a:solidFill>
                <a:latin typeface="Calibri" pitchFamily="34" charset="0"/>
                <a:ea typeface="Calibri" pitchFamily="34" charset="-122"/>
                <a:cs typeface="Calibri" pitchFamily="34" charset="-120"/>
              </a:rPr>
              <a:t>Profit Margin</a:t>
            </a:r>
            <a:endParaRPr lang="en-US" sz="1500" dirty="0"/>
          </a:p>
        </p:txBody>
      </p:sp>
      <p:sp>
        <p:nvSpPr>
          <p:cNvPr id="42" name="Text 33"/>
          <p:cNvSpPr txBox="1"/>
          <p:nvPr/>
        </p:nvSpPr>
        <p:spPr>
          <a:xfrm>
            <a:off x="6208776" y="5797296"/>
            <a:ext cx="2601468" cy="274320"/>
          </a:xfrm>
          <a:prstGeom prst="rect">
            <a:avLst/>
          </a:prstGeom>
          <a:noFill/>
          <a:ln/>
        </p:spPr>
        <p:txBody>
          <a:bodyPr wrap="square" lIns="0" tIns="0" rIns="0" bIns="0" rtlCol="0" anchor="ctr"/>
          <a:lstStyle/>
          <a:p>
            <a:pPr algn="ctr" indent="0" marL="0">
              <a:buNone/>
            </a:pPr>
            <a:r>
              <a:rPr lang="en-US" sz="1200" dirty="0">
                <a:solidFill>
                  <a:srgbClr val="1A1A1A"/>
                </a:solidFill>
                <a:latin typeface="Calibri" pitchFamily="34" charset="0"/>
                <a:ea typeface="Calibri" pitchFamily="34" charset="-122"/>
                <a:cs typeface="Calibri" pitchFamily="34" charset="-120"/>
              </a:rPr>
              <a:t>Profit kept from every ₹100 sold</a:t>
            </a:r>
            <a:endParaRPr lang="en-US" sz="1200" dirty="0"/>
          </a:p>
        </p:txBody>
      </p:sp>
      <p:sp>
        <p:nvSpPr>
          <p:cNvPr id="43" name="Shape 34"/>
          <p:cNvSpPr/>
          <p:nvPr/>
        </p:nvSpPr>
        <p:spPr>
          <a:xfrm>
            <a:off x="9038844" y="4846320"/>
            <a:ext cx="2601468" cy="1371600"/>
          </a:xfrm>
          <a:prstGeom prst="roundRect">
            <a:avLst>
              <a:gd name="adj" fmla="val 6667"/>
            </a:avLst>
          </a:prstGeom>
          <a:solidFill>
            <a:srgbClr val="A6A6A6"/>
          </a:solidFill>
          <a:ln w="25400">
            <a:solidFill>
              <a:srgbClr val="FFFFFF"/>
            </a:solidFill>
            <a:prstDash val="solid"/>
          </a:ln>
          <a:effectLst>
            <a:outerShdw sx="100000" sy="100000" kx="0" ky="0" algn="bl" rotWithShape="0" blurRad="101600" dist="25400" dir="5400000">
              <a:srgbClr val="000000">
                <a:alpha val="15000"/>
              </a:srgbClr>
            </a:outerShdw>
          </a:effectLst>
        </p:spPr>
      </p:sp>
      <p:sp>
        <p:nvSpPr>
          <p:cNvPr id="44" name="Text 35"/>
          <p:cNvSpPr txBox="1"/>
          <p:nvPr/>
        </p:nvSpPr>
        <p:spPr>
          <a:xfrm>
            <a:off x="9038844" y="4937760"/>
            <a:ext cx="2601468" cy="530352"/>
          </a:xfrm>
          <a:prstGeom prst="rect">
            <a:avLst/>
          </a:prstGeom>
          <a:noFill/>
          <a:ln/>
        </p:spPr>
        <p:txBody>
          <a:bodyPr wrap="square" lIns="0" tIns="0" rIns="0" bIns="0" rtlCol="0" anchor="ctr"/>
          <a:lstStyle/>
          <a:p>
            <a:pPr algn="ctr" indent="0" marL="0">
              <a:buNone/>
            </a:pPr>
            <a:r>
              <a:rPr lang="en-US" sz="2800" b="1" dirty="0">
                <a:solidFill>
                  <a:srgbClr val="000000"/>
                </a:solidFill>
                <a:latin typeface="Cambria" pitchFamily="34" charset="0"/>
                <a:ea typeface="Cambria" pitchFamily="34" charset="-122"/>
                <a:cs typeface="Cambria" pitchFamily="34" charset="-120"/>
              </a:rPr>
              <a:t>12.57%</a:t>
            </a:r>
            <a:endParaRPr lang="en-US" sz="2800" dirty="0"/>
          </a:p>
        </p:txBody>
      </p:sp>
      <p:sp>
        <p:nvSpPr>
          <p:cNvPr id="45" name="Text 36"/>
          <p:cNvSpPr txBox="1"/>
          <p:nvPr/>
        </p:nvSpPr>
        <p:spPr>
          <a:xfrm>
            <a:off x="9038844" y="5486400"/>
            <a:ext cx="2601468" cy="292608"/>
          </a:xfrm>
          <a:prstGeom prst="rect">
            <a:avLst/>
          </a:prstGeom>
          <a:noFill/>
          <a:ln/>
        </p:spPr>
        <p:txBody>
          <a:bodyPr wrap="square" lIns="0" tIns="0" rIns="0" bIns="0" rtlCol="0" anchor="ctr"/>
          <a:lstStyle/>
          <a:p>
            <a:pPr algn="ctr" indent="0" marL="0">
              <a:buNone/>
            </a:pPr>
            <a:r>
              <a:rPr lang="en-US" sz="1500" b="1" dirty="0">
                <a:solidFill>
                  <a:srgbClr val="000000"/>
                </a:solidFill>
                <a:latin typeface="Calibri" pitchFamily="34" charset="0"/>
                <a:ea typeface="Calibri" pitchFamily="34" charset="-122"/>
                <a:cs typeface="Calibri" pitchFamily="34" charset="-120"/>
              </a:rPr>
              <a:t>Average Discount</a:t>
            </a:r>
            <a:endParaRPr lang="en-US" sz="1500" dirty="0"/>
          </a:p>
        </p:txBody>
      </p:sp>
      <p:sp>
        <p:nvSpPr>
          <p:cNvPr id="46" name="Text 37"/>
          <p:cNvSpPr txBox="1"/>
          <p:nvPr/>
        </p:nvSpPr>
        <p:spPr>
          <a:xfrm>
            <a:off x="9038844" y="5797296"/>
            <a:ext cx="2601468" cy="274320"/>
          </a:xfrm>
          <a:prstGeom prst="rect">
            <a:avLst/>
          </a:prstGeom>
          <a:noFill/>
          <a:ln/>
        </p:spPr>
        <p:txBody>
          <a:bodyPr wrap="square" lIns="0" tIns="0" rIns="0" bIns="0" rtlCol="0" anchor="ctr"/>
          <a:lstStyle/>
          <a:p>
            <a:pPr algn="ctr" indent="0" marL="0">
              <a:buNone/>
            </a:pPr>
            <a:r>
              <a:rPr lang="en-US" sz="1200" dirty="0">
                <a:solidFill>
                  <a:srgbClr val="1A1A1A"/>
                </a:solidFill>
                <a:latin typeface="Calibri" pitchFamily="34" charset="0"/>
                <a:ea typeface="Calibri" pitchFamily="34" charset="-122"/>
                <a:cs typeface="Calibri" pitchFamily="34" charset="-120"/>
              </a:rPr>
              <a:t>Average price cut we give</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5E5E5"/>
        </a:solidFill>
      </p:bgPr>
    </p:bg>
    <p:spTree>
      <p:nvGrpSpPr>
        <p:cNvPr id="1" name=""/>
        <p:cNvGrpSpPr/>
        <p:nvPr/>
      </p:nvGrpSpPr>
      <p:grpSpPr>
        <a:xfrm>
          <a:off x="0" y="0"/>
          <a:ext cx="0" cy="0"/>
          <a:chOff x="0" y="0"/>
          <a:chExt cx="0" cy="0"/>
        </a:xfrm>
      </p:grpSpPr>
      <p:sp>
        <p:nvSpPr>
          <p:cNvPr id="2" name="Shape 0"/>
          <p:cNvSpPr/>
          <p:nvPr/>
        </p:nvSpPr>
        <p:spPr>
          <a:xfrm>
            <a:off x="0" y="0"/>
            <a:ext cx="12191695" cy="1051560"/>
          </a:xfrm>
          <a:prstGeom prst="rect">
            <a:avLst/>
          </a:prstGeom>
          <a:solidFill>
            <a:srgbClr val="A6A6A6"/>
          </a:solidFill>
          <a:ln w="12700">
            <a:solidFill>
              <a:srgbClr val="A6A6A6"/>
            </a:solidFill>
            <a:prstDash val="solid"/>
          </a:ln>
        </p:spPr>
      </p:sp>
      <p:sp>
        <p:nvSpPr>
          <p:cNvPr id="3" name="Text 1"/>
          <p:cNvSpPr txBox="1"/>
          <p:nvPr/>
        </p:nvSpPr>
        <p:spPr>
          <a:xfrm>
            <a:off x="548640" y="0"/>
            <a:ext cx="11064240" cy="1051560"/>
          </a:xfrm>
          <a:prstGeom prst="rect">
            <a:avLst/>
          </a:prstGeom>
          <a:noFill/>
          <a:ln/>
        </p:spPr>
        <p:txBody>
          <a:bodyPr wrap="square" lIns="0" tIns="0" rIns="0" bIns="0" rtlCol="0" anchor="ctr"/>
          <a:lstStyle/>
          <a:p>
            <a:pPr indent="0" marL="0">
              <a:buNone/>
            </a:pPr>
            <a:r>
              <a:rPr lang="en-US" sz="3000" b="1" dirty="0">
                <a:solidFill>
                  <a:srgbClr val="000000"/>
                </a:solidFill>
                <a:latin typeface="Cambria" pitchFamily="34" charset="0"/>
                <a:ea typeface="Cambria" pitchFamily="34" charset="-122"/>
                <a:cs typeface="Cambria" pitchFamily="34" charset="-120"/>
              </a:rPr>
              <a:t>The Solution: A Simple Excel Dashboard</a:t>
            </a:r>
            <a:endParaRPr lang="en-US" sz="3000" dirty="0"/>
          </a:p>
        </p:txBody>
      </p:sp>
      <p:sp>
        <p:nvSpPr>
          <p:cNvPr id="4" name="Shape 2"/>
          <p:cNvSpPr/>
          <p:nvPr/>
        </p:nvSpPr>
        <p:spPr>
          <a:xfrm>
            <a:off x="548640" y="1325880"/>
            <a:ext cx="7040880" cy="3017520"/>
          </a:xfrm>
          <a:prstGeom prst="roundRect">
            <a:avLst>
              <a:gd name="adj" fmla="val 3030"/>
            </a:avLst>
          </a:prstGeom>
          <a:solidFill>
            <a:srgbClr val="FFFFFF"/>
          </a:solidFill>
          <a:ln w="12700">
            <a:solidFill>
              <a:srgbClr val="BFBFBF"/>
            </a:solidFill>
            <a:prstDash val="solid"/>
          </a:ln>
          <a:effectLst>
            <a:outerShdw sx="100000" sy="100000" kx="0" ky="0" algn="bl" rotWithShape="0" blurRad="101600" dist="25400" dir="5400000">
              <a:srgbClr val="000000">
                <a:alpha val="15000"/>
              </a:srgbClr>
            </a:outerShdw>
          </a:effectLst>
        </p:spPr>
      </p:sp>
      <p:pic>
        <p:nvPicPr>
          <p:cNvPr id="5" name="Image 0" descr="/mnt/user-data/uploads/Trendmart_Dashboard_Screenshot.png">    </p:cNvPr>
          <p:cNvPicPr>
            <a:picLocks noChangeAspect="1"/>
          </p:cNvPicPr>
          <p:nvPr/>
        </p:nvPicPr>
        <p:blipFill>
          <a:blip r:embed="rId1"/>
          <a:stretch>
            <a:fillRect/>
          </a:stretch>
        </p:blipFill>
        <p:spPr>
          <a:xfrm>
            <a:off x="640080" y="1417320"/>
            <a:ext cx="6858000" cy="2857761"/>
          </a:xfrm>
          <a:prstGeom prst="rect">
            <a:avLst/>
          </a:prstGeom>
        </p:spPr>
      </p:pic>
      <p:sp>
        <p:nvSpPr>
          <p:cNvPr id="6" name="Text 3"/>
          <p:cNvSpPr txBox="1"/>
          <p:nvPr/>
        </p:nvSpPr>
        <p:spPr>
          <a:xfrm>
            <a:off x="548640" y="4407408"/>
            <a:ext cx="7040880" cy="292608"/>
          </a:xfrm>
          <a:prstGeom prst="rect">
            <a:avLst/>
          </a:prstGeom>
          <a:noFill/>
          <a:ln/>
        </p:spPr>
        <p:txBody>
          <a:bodyPr wrap="square" lIns="0" tIns="0" rIns="0" bIns="0" rtlCol="0" anchor="ctr"/>
          <a:lstStyle/>
          <a:p>
            <a:pPr algn="ctr" indent="0" marL="0">
              <a:buNone/>
            </a:pPr>
            <a:r>
              <a:rPr lang="en-US" sz="1200" i="1" dirty="0">
                <a:solidFill>
                  <a:srgbClr val="4D4D4D"/>
                </a:solidFill>
                <a:latin typeface="Calibri" pitchFamily="34" charset="0"/>
                <a:ea typeface="Calibri" pitchFamily="34" charset="-122"/>
                <a:cs typeface="Calibri" pitchFamily="34" charset="-120"/>
              </a:rPr>
              <a:t>Our live dashboard — click the Year or Discount filters to explore</a:t>
            </a:r>
            <a:endParaRPr lang="en-US" sz="1200" dirty="0"/>
          </a:p>
        </p:txBody>
      </p:sp>
      <p:sp>
        <p:nvSpPr>
          <p:cNvPr id="7" name="Text 4"/>
          <p:cNvSpPr txBox="1"/>
          <p:nvPr/>
        </p:nvSpPr>
        <p:spPr>
          <a:xfrm>
            <a:off x="548640" y="4846320"/>
            <a:ext cx="7040880" cy="320040"/>
          </a:xfrm>
          <a:prstGeom prst="rect">
            <a:avLst/>
          </a:prstGeom>
          <a:noFill/>
          <a:ln/>
        </p:spPr>
        <p:txBody>
          <a:bodyPr wrap="square" lIns="0" tIns="0" rIns="0" bIns="0" rtlCol="0" anchor="ctr"/>
          <a:lstStyle/>
          <a:p>
            <a:pPr indent="0" marL="0">
              <a:buNone/>
            </a:pPr>
            <a:r>
              <a:rPr lang="en-US" sz="1500" b="1" dirty="0">
                <a:solidFill>
                  <a:srgbClr val="3972B9"/>
                </a:solidFill>
                <a:latin typeface="Calibri" pitchFamily="34" charset="0"/>
                <a:ea typeface="Calibri" pitchFamily="34" charset="-122"/>
                <a:cs typeface="Calibri" pitchFamily="34" charset="-120"/>
              </a:rPr>
              <a:t>How We Built It</a:t>
            </a:r>
            <a:endParaRPr lang="en-US" sz="1500" dirty="0"/>
          </a:p>
        </p:txBody>
      </p:sp>
      <p:sp>
        <p:nvSpPr>
          <p:cNvPr id="8" name="Shape 5"/>
          <p:cNvSpPr/>
          <p:nvPr/>
        </p:nvSpPr>
        <p:spPr>
          <a:xfrm>
            <a:off x="594360" y="5317236"/>
            <a:ext cx="100584" cy="100584"/>
          </a:xfrm>
          <a:prstGeom prst="ellipse">
            <a:avLst/>
          </a:prstGeom>
          <a:solidFill>
            <a:srgbClr val="CB403C"/>
          </a:solidFill>
          <a:ln w="12700">
            <a:solidFill>
              <a:srgbClr val="CB403C"/>
            </a:solidFill>
            <a:prstDash val="solid"/>
          </a:ln>
        </p:spPr>
      </p:sp>
      <p:sp>
        <p:nvSpPr>
          <p:cNvPr id="9" name="Text 6"/>
          <p:cNvSpPr txBox="1"/>
          <p:nvPr/>
        </p:nvSpPr>
        <p:spPr>
          <a:xfrm>
            <a:off x="841248" y="5230368"/>
            <a:ext cx="6766560" cy="274320"/>
          </a:xfrm>
          <a:prstGeom prst="rect">
            <a:avLst/>
          </a:prstGeom>
          <a:noFill/>
          <a:ln/>
        </p:spPr>
        <p:txBody>
          <a:bodyPr wrap="square" lIns="0" tIns="0" rIns="0" bIns="0" rtlCol="0" anchor="ctr"/>
          <a:lstStyle/>
          <a:p>
            <a:pPr indent="0" marL="0">
              <a:buNone/>
            </a:pPr>
            <a:r>
              <a:rPr lang="en-US" sz="1300" dirty="0">
                <a:solidFill>
                  <a:srgbClr val="1A1A1A"/>
                </a:solidFill>
                <a:latin typeface="Calibri" pitchFamily="34" charset="0"/>
                <a:ea typeface="Calibri" pitchFamily="34" charset="-122"/>
                <a:cs typeface="Calibri" pitchFamily="34" charset="-120"/>
              </a:rPr>
              <a:t>Cleaned the raw sales data (duplicates, blanks, spelling mistakes)</a:t>
            </a:r>
            <a:endParaRPr lang="en-US" sz="1300" dirty="0"/>
          </a:p>
        </p:txBody>
      </p:sp>
      <p:sp>
        <p:nvSpPr>
          <p:cNvPr id="10" name="Shape 7"/>
          <p:cNvSpPr/>
          <p:nvPr/>
        </p:nvSpPr>
        <p:spPr>
          <a:xfrm>
            <a:off x="594360" y="5609844"/>
            <a:ext cx="100584" cy="100584"/>
          </a:xfrm>
          <a:prstGeom prst="ellipse">
            <a:avLst/>
          </a:prstGeom>
          <a:solidFill>
            <a:srgbClr val="CB403C"/>
          </a:solidFill>
          <a:ln w="12700">
            <a:solidFill>
              <a:srgbClr val="CB403C"/>
            </a:solidFill>
            <a:prstDash val="solid"/>
          </a:ln>
        </p:spPr>
      </p:sp>
      <p:sp>
        <p:nvSpPr>
          <p:cNvPr id="11" name="Text 8"/>
          <p:cNvSpPr txBox="1"/>
          <p:nvPr/>
        </p:nvSpPr>
        <p:spPr>
          <a:xfrm>
            <a:off x="841248" y="5522976"/>
            <a:ext cx="6766560" cy="274320"/>
          </a:xfrm>
          <a:prstGeom prst="rect">
            <a:avLst/>
          </a:prstGeom>
          <a:noFill/>
          <a:ln/>
        </p:spPr>
        <p:txBody>
          <a:bodyPr wrap="square" lIns="0" tIns="0" rIns="0" bIns="0" rtlCol="0" anchor="ctr"/>
          <a:lstStyle/>
          <a:p>
            <a:pPr indent="0" marL="0">
              <a:buNone/>
            </a:pPr>
            <a:r>
              <a:rPr lang="en-US" sz="1300" dirty="0">
                <a:solidFill>
                  <a:srgbClr val="1A1A1A"/>
                </a:solidFill>
                <a:latin typeface="Calibri" pitchFamily="34" charset="0"/>
                <a:ea typeface="Calibri" pitchFamily="34" charset="-122"/>
                <a:cs typeface="Calibri" pitchFamily="34" charset="-120"/>
              </a:rPr>
              <a:t>Worked out the profit and profit % of every sale</a:t>
            </a:r>
            <a:endParaRPr lang="en-US" sz="1300" dirty="0"/>
          </a:p>
        </p:txBody>
      </p:sp>
      <p:sp>
        <p:nvSpPr>
          <p:cNvPr id="12" name="Shape 9"/>
          <p:cNvSpPr/>
          <p:nvPr/>
        </p:nvSpPr>
        <p:spPr>
          <a:xfrm>
            <a:off x="594360" y="5902452"/>
            <a:ext cx="100584" cy="100584"/>
          </a:xfrm>
          <a:prstGeom prst="ellipse">
            <a:avLst/>
          </a:prstGeom>
          <a:solidFill>
            <a:srgbClr val="CB403C"/>
          </a:solidFill>
          <a:ln w="12700">
            <a:solidFill>
              <a:srgbClr val="CB403C"/>
            </a:solidFill>
            <a:prstDash val="solid"/>
          </a:ln>
        </p:spPr>
      </p:sp>
      <p:sp>
        <p:nvSpPr>
          <p:cNvPr id="13" name="Text 10"/>
          <p:cNvSpPr txBox="1"/>
          <p:nvPr/>
        </p:nvSpPr>
        <p:spPr>
          <a:xfrm>
            <a:off x="841248" y="5815584"/>
            <a:ext cx="6766560" cy="274320"/>
          </a:xfrm>
          <a:prstGeom prst="rect">
            <a:avLst/>
          </a:prstGeom>
          <a:noFill/>
          <a:ln/>
        </p:spPr>
        <p:txBody>
          <a:bodyPr wrap="square" lIns="0" tIns="0" rIns="0" bIns="0" rtlCol="0" anchor="ctr"/>
          <a:lstStyle/>
          <a:p>
            <a:pPr indent="0" marL="0">
              <a:buNone/>
            </a:pPr>
            <a:r>
              <a:rPr lang="en-US" sz="1300" dirty="0">
                <a:solidFill>
                  <a:srgbClr val="1A1A1A"/>
                </a:solidFill>
                <a:latin typeface="Calibri" pitchFamily="34" charset="0"/>
                <a:ea typeface="Calibri" pitchFamily="34" charset="-122"/>
                <a:cs typeface="Calibri" pitchFamily="34" charset="-120"/>
              </a:rPr>
              <a:t>Turned the numbers into charts anyone can read at a glance</a:t>
            </a:r>
            <a:endParaRPr lang="en-US" sz="1300" dirty="0"/>
          </a:p>
        </p:txBody>
      </p:sp>
      <p:sp>
        <p:nvSpPr>
          <p:cNvPr id="14" name="Shape 11"/>
          <p:cNvSpPr/>
          <p:nvPr/>
        </p:nvSpPr>
        <p:spPr>
          <a:xfrm>
            <a:off x="594360" y="6195060"/>
            <a:ext cx="100584" cy="100584"/>
          </a:xfrm>
          <a:prstGeom prst="ellipse">
            <a:avLst/>
          </a:prstGeom>
          <a:solidFill>
            <a:srgbClr val="CB403C"/>
          </a:solidFill>
          <a:ln w="12700">
            <a:solidFill>
              <a:srgbClr val="CB403C"/>
            </a:solidFill>
            <a:prstDash val="solid"/>
          </a:ln>
        </p:spPr>
      </p:sp>
      <p:sp>
        <p:nvSpPr>
          <p:cNvPr id="15" name="Text 12"/>
          <p:cNvSpPr txBox="1"/>
          <p:nvPr/>
        </p:nvSpPr>
        <p:spPr>
          <a:xfrm>
            <a:off x="841248" y="6108192"/>
            <a:ext cx="6766560" cy="274320"/>
          </a:xfrm>
          <a:prstGeom prst="rect">
            <a:avLst/>
          </a:prstGeom>
          <a:noFill/>
          <a:ln/>
        </p:spPr>
        <p:txBody>
          <a:bodyPr wrap="square" lIns="0" tIns="0" rIns="0" bIns="0" rtlCol="0" anchor="ctr"/>
          <a:lstStyle/>
          <a:p>
            <a:pPr indent="0" marL="0">
              <a:buNone/>
            </a:pPr>
            <a:r>
              <a:rPr lang="en-US" sz="1300" dirty="0">
                <a:solidFill>
                  <a:srgbClr val="1A1A1A"/>
                </a:solidFill>
                <a:latin typeface="Calibri" pitchFamily="34" charset="0"/>
                <a:ea typeface="Calibri" pitchFamily="34" charset="-122"/>
                <a:cs typeface="Calibri" pitchFamily="34" charset="-120"/>
              </a:rPr>
              <a:t>Next step: add returns, costs and customers to the dashboard</a:t>
            </a:r>
            <a:endParaRPr lang="en-US" sz="1300" dirty="0"/>
          </a:p>
        </p:txBody>
      </p:sp>
      <p:sp>
        <p:nvSpPr>
          <p:cNvPr id="16" name="Text 13"/>
          <p:cNvSpPr txBox="1"/>
          <p:nvPr/>
        </p:nvSpPr>
        <p:spPr>
          <a:xfrm>
            <a:off x="7909560" y="1325880"/>
            <a:ext cx="3749040" cy="365760"/>
          </a:xfrm>
          <a:prstGeom prst="rect">
            <a:avLst/>
          </a:prstGeom>
          <a:noFill/>
          <a:ln/>
        </p:spPr>
        <p:txBody>
          <a:bodyPr wrap="square" lIns="0" tIns="0" rIns="0" bIns="0" rtlCol="0" anchor="ctr"/>
          <a:lstStyle/>
          <a:p>
            <a:pPr indent="0" marL="0">
              <a:buNone/>
            </a:pPr>
            <a:r>
              <a:rPr lang="en-US" sz="1500" b="1" dirty="0">
                <a:solidFill>
                  <a:srgbClr val="3972B9"/>
                </a:solidFill>
                <a:latin typeface="Calibri" pitchFamily="34" charset="0"/>
                <a:ea typeface="Calibri" pitchFamily="34" charset="-122"/>
                <a:cs typeface="Calibri" pitchFamily="34" charset="-120"/>
              </a:rPr>
              <a:t>What We Found</a:t>
            </a:r>
            <a:endParaRPr lang="en-US" sz="1500" dirty="0"/>
          </a:p>
        </p:txBody>
      </p:sp>
      <p:sp>
        <p:nvSpPr>
          <p:cNvPr id="17" name="Shape 14"/>
          <p:cNvSpPr/>
          <p:nvPr/>
        </p:nvSpPr>
        <p:spPr>
          <a:xfrm>
            <a:off x="7909560" y="1874520"/>
            <a:ext cx="548640" cy="548640"/>
          </a:xfrm>
          <a:prstGeom prst="ellipse">
            <a:avLst/>
          </a:prstGeom>
          <a:solidFill>
            <a:srgbClr val="3972B9"/>
          </a:solidFill>
          <a:ln w="12700">
            <a:solidFill>
              <a:srgbClr val="3972B9"/>
            </a:solidFill>
            <a:prstDash val="solid"/>
          </a:ln>
        </p:spPr>
      </p:sp>
      <p:pic>
        <p:nvPicPr>
          <p:cNvPr id="18" name="Image 1" descr="preencoded.png">    </p:cNvPr>
          <p:cNvPicPr>
            <a:picLocks noChangeAspect="1"/>
          </p:cNvPicPr>
          <p:nvPr/>
        </p:nvPicPr>
        <p:blipFill>
          <a:blip r:embed="rId2"/>
          <a:stretch>
            <a:fillRect/>
          </a:stretch>
        </p:blipFill>
        <p:spPr>
          <a:xfrm>
            <a:off x="8046720" y="2011680"/>
            <a:ext cx="274320" cy="274320"/>
          </a:xfrm>
          <a:prstGeom prst="rect">
            <a:avLst/>
          </a:prstGeom>
        </p:spPr>
      </p:pic>
      <p:sp>
        <p:nvSpPr>
          <p:cNvPr id="19" name="Text 15"/>
          <p:cNvSpPr txBox="1"/>
          <p:nvPr/>
        </p:nvSpPr>
        <p:spPr>
          <a:xfrm>
            <a:off x="8613648" y="1828800"/>
            <a:ext cx="3044952" cy="1051560"/>
          </a:xfrm>
          <a:prstGeom prst="rect">
            <a:avLst/>
          </a:prstGeom>
          <a:noFill/>
          <a:ln/>
        </p:spPr>
        <p:txBody>
          <a:bodyPr wrap="square" lIns="0" tIns="0" rIns="0" bIns="0" rtlCol="0" anchor="t"/>
          <a:lstStyle/>
          <a:p>
            <a:pPr indent="0" marL="0">
              <a:buNone/>
            </a:pPr>
            <a:r>
              <a:rPr lang="en-US" sz="1400" b="1" dirty="0">
                <a:solidFill>
                  <a:srgbClr val="1A1A1A"/>
                </a:solidFill>
                <a:latin typeface="Calibri" pitchFamily="34" charset="0"/>
                <a:ea typeface="Calibri" pitchFamily="34" charset="-122"/>
                <a:cs typeface="Calibri" pitchFamily="34" charset="-120"/>
              </a:rPr>
              <a:t>Bigger discounts, smaller profit</a:t>
            </a:r>
            <a:endParaRPr lang="en-US" sz="1400" dirty="0"/>
          </a:p>
          <a:p>
            <a:pPr indent="0" marL="0">
              <a:buNone/>
            </a:pPr>
            <a:r>
              <a:rPr lang="en-US" sz="1250" dirty="0">
                <a:solidFill>
                  <a:srgbClr val="4D4D4D"/>
                </a:solidFill>
                <a:latin typeface="Calibri" pitchFamily="34" charset="0"/>
                <a:ea typeface="Calibri" pitchFamily="34" charset="-122"/>
                <a:cs typeface="Calibri" pitchFamily="34" charset="-120"/>
              </a:rPr>
              <a:t>With no discount we keep about ₹28 from every ₹100 sold. With 30% off, we keep less than ₹2.</a:t>
            </a:r>
            <a:endParaRPr lang="en-US" sz="1400" dirty="0"/>
          </a:p>
        </p:txBody>
      </p:sp>
      <p:sp>
        <p:nvSpPr>
          <p:cNvPr id="20" name="Shape 16"/>
          <p:cNvSpPr/>
          <p:nvPr/>
        </p:nvSpPr>
        <p:spPr>
          <a:xfrm>
            <a:off x="7909560" y="3017520"/>
            <a:ext cx="548640" cy="548640"/>
          </a:xfrm>
          <a:prstGeom prst="ellipse">
            <a:avLst/>
          </a:prstGeom>
          <a:solidFill>
            <a:srgbClr val="3972B9"/>
          </a:solidFill>
          <a:ln w="12700">
            <a:solidFill>
              <a:srgbClr val="3972B9"/>
            </a:solidFill>
            <a:prstDash val="solid"/>
          </a:ln>
        </p:spPr>
      </p:sp>
      <p:pic>
        <p:nvPicPr>
          <p:cNvPr id="21" name="Image 2" descr="preencoded.png">    </p:cNvPr>
          <p:cNvPicPr>
            <a:picLocks noChangeAspect="1"/>
          </p:cNvPicPr>
          <p:nvPr/>
        </p:nvPicPr>
        <p:blipFill>
          <a:blip r:embed="rId3"/>
          <a:stretch>
            <a:fillRect/>
          </a:stretch>
        </p:blipFill>
        <p:spPr>
          <a:xfrm>
            <a:off x="8046720" y="3154680"/>
            <a:ext cx="274320" cy="274320"/>
          </a:xfrm>
          <a:prstGeom prst="rect">
            <a:avLst/>
          </a:prstGeom>
        </p:spPr>
      </p:pic>
      <p:sp>
        <p:nvSpPr>
          <p:cNvPr id="22" name="Text 17"/>
          <p:cNvSpPr txBox="1"/>
          <p:nvPr/>
        </p:nvSpPr>
        <p:spPr>
          <a:xfrm>
            <a:off x="8613648" y="2971800"/>
            <a:ext cx="3044952" cy="1051560"/>
          </a:xfrm>
          <a:prstGeom prst="rect">
            <a:avLst/>
          </a:prstGeom>
          <a:noFill/>
          <a:ln/>
        </p:spPr>
        <p:txBody>
          <a:bodyPr wrap="square" lIns="0" tIns="0" rIns="0" bIns="0" rtlCol="0" anchor="t"/>
          <a:lstStyle/>
          <a:p>
            <a:pPr indent="0" marL="0">
              <a:buNone/>
            </a:pPr>
            <a:r>
              <a:rPr lang="en-US" sz="1400" b="1" dirty="0">
                <a:solidFill>
                  <a:srgbClr val="1A1A1A"/>
                </a:solidFill>
                <a:latin typeface="Calibri" pitchFamily="34" charset="0"/>
                <a:ea typeface="Calibri" pitchFamily="34" charset="-122"/>
                <a:cs typeface="Calibri" pitchFamily="34" charset="-120"/>
              </a:rPr>
              <a:t>Popular is not always profitable</a:t>
            </a:r>
            <a:endParaRPr lang="en-US" sz="1400" dirty="0"/>
          </a:p>
          <a:p>
            <a:pPr indent="0" marL="0">
              <a:buNone/>
            </a:pPr>
            <a:r>
              <a:rPr lang="en-US" sz="1250" dirty="0">
                <a:solidFill>
                  <a:srgbClr val="4D4D4D"/>
                </a:solidFill>
                <a:latin typeface="Calibri" pitchFamily="34" charset="0"/>
                <a:ea typeface="Calibri" pitchFamily="34" charset="-122"/>
                <a:cs typeface="Calibri" pitchFamily="34" charset="-120"/>
              </a:rPr>
              <a:t>Sarees sell the most (₹11.2L), but Handbags make the most profit (₹2.1L).</a:t>
            </a:r>
            <a:endParaRPr lang="en-US" sz="1400" dirty="0"/>
          </a:p>
        </p:txBody>
      </p:sp>
      <p:sp>
        <p:nvSpPr>
          <p:cNvPr id="23" name="Shape 18"/>
          <p:cNvSpPr/>
          <p:nvPr/>
        </p:nvSpPr>
        <p:spPr>
          <a:xfrm>
            <a:off x="7909560" y="4160520"/>
            <a:ext cx="548640" cy="548640"/>
          </a:xfrm>
          <a:prstGeom prst="ellipse">
            <a:avLst/>
          </a:prstGeom>
          <a:solidFill>
            <a:srgbClr val="3972B9"/>
          </a:solidFill>
          <a:ln w="12700">
            <a:solidFill>
              <a:srgbClr val="3972B9"/>
            </a:solidFill>
            <a:prstDash val="solid"/>
          </a:ln>
        </p:spPr>
      </p:sp>
      <p:pic>
        <p:nvPicPr>
          <p:cNvPr id="24" name="Image 3" descr="preencoded.png">    </p:cNvPr>
          <p:cNvPicPr>
            <a:picLocks noChangeAspect="1"/>
          </p:cNvPicPr>
          <p:nvPr/>
        </p:nvPicPr>
        <p:blipFill>
          <a:blip r:embed="rId4"/>
          <a:stretch>
            <a:fillRect/>
          </a:stretch>
        </p:blipFill>
        <p:spPr>
          <a:xfrm>
            <a:off x="8046720" y="4297680"/>
            <a:ext cx="274320" cy="274320"/>
          </a:xfrm>
          <a:prstGeom prst="rect">
            <a:avLst/>
          </a:prstGeom>
        </p:spPr>
      </p:pic>
      <p:sp>
        <p:nvSpPr>
          <p:cNvPr id="25" name="Text 19"/>
          <p:cNvSpPr txBox="1"/>
          <p:nvPr/>
        </p:nvSpPr>
        <p:spPr>
          <a:xfrm>
            <a:off x="8613648" y="4114800"/>
            <a:ext cx="3044952" cy="1051560"/>
          </a:xfrm>
          <a:prstGeom prst="rect">
            <a:avLst/>
          </a:prstGeom>
          <a:noFill/>
          <a:ln/>
        </p:spPr>
        <p:txBody>
          <a:bodyPr wrap="square" lIns="0" tIns="0" rIns="0" bIns="0" rtlCol="0" anchor="t"/>
          <a:lstStyle/>
          <a:p>
            <a:pPr indent="0" marL="0">
              <a:buNone/>
            </a:pPr>
            <a:r>
              <a:rPr lang="en-US" sz="1400" b="1" dirty="0">
                <a:solidFill>
                  <a:srgbClr val="1A1A1A"/>
                </a:solidFill>
                <a:latin typeface="Calibri" pitchFamily="34" charset="0"/>
                <a:ea typeface="Calibri" pitchFamily="34" charset="-122"/>
                <a:cs typeface="Calibri" pitchFamily="34" charset="-120"/>
              </a:rPr>
              <a:t>Online and in-store earn the same</a:t>
            </a:r>
            <a:endParaRPr lang="en-US" sz="1400" dirty="0"/>
          </a:p>
          <a:p>
            <a:pPr indent="0" marL="0">
              <a:buNone/>
            </a:pPr>
            <a:r>
              <a:rPr lang="en-US" sz="1250" dirty="0">
                <a:solidFill>
                  <a:srgbClr val="4D4D4D"/>
                </a:solidFill>
                <a:latin typeface="Calibri" pitchFamily="34" charset="0"/>
                <a:ea typeface="Calibri" pitchFamily="34" charset="-122"/>
                <a:cs typeface="Calibri" pitchFamily="34" charset="-120"/>
              </a:rPr>
              <a:t>In-store brings 66% of sales and online 34%. Both keep about ₹19.50 per ₹100.</a:t>
            </a:r>
            <a:endParaRPr lang="en-US" sz="1400" dirty="0"/>
          </a:p>
        </p:txBody>
      </p:sp>
      <p:sp>
        <p:nvSpPr>
          <p:cNvPr id="26" name="Shape 20"/>
          <p:cNvSpPr/>
          <p:nvPr/>
        </p:nvSpPr>
        <p:spPr>
          <a:xfrm>
            <a:off x="7909560" y="5303520"/>
            <a:ext cx="548640" cy="548640"/>
          </a:xfrm>
          <a:prstGeom prst="ellipse">
            <a:avLst/>
          </a:prstGeom>
          <a:solidFill>
            <a:srgbClr val="3972B9"/>
          </a:solidFill>
          <a:ln w="12700">
            <a:solidFill>
              <a:srgbClr val="3972B9"/>
            </a:solidFill>
            <a:prstDash val="solid"/>
          </a:ln>
        </p:spPr>
      </p:sp>
      <p:pic>
        <p:nvPicPr>
          <p:cNvPr id="27" name="Image 4" descr="preencoded.png">    </p:cNvPr>
          <p:cNvPicPr>
            <a:picLocks noChangeAspect="1"/>
          </p:cNvPicPr>
          <p:nvPr/>
        </p:nvPicPr>
        <p:blipFill>
          <a:blip r:embed="rId5"/>
          <a:stretch>
            <a:fillRect/>
          </a:stretch>
        </p:blipFill>
        <p:spPr>
          <a:xfrm>
            <a:off x="8046720" y="5440680"/>
            <a:ext cx="274320" cy="274320"/>
          </a:xfrm>
          <a:prstGeom prst="rect">
            <a:avLst/>
          </a:prstGeom>
        </p:spPr>
      </p:pic>
      <p:sp>
        <p:nvSpPr>
          <p:cNvPr id="28" name="Text 21"/>
          <p:cNvSpPr txBox="1"/>
          <p:nvPr/>
        </p:nvSpPr>
        <p:spPr>
          <a:xfrm>
            <a:off x="8613648" y="5257800"/>
            <a:ext cx="3044952" cy="1051560"/>
          </a:xfrm>
          <a:prstGeom prst="rect">
            <a:avLst/>
          </a:prstGeom>
          <a:noFill/>
          <a:ln/>
        </p:spPr>
        <p:txBody>
          <a:bodyPr wrap="square" lIns="0" tIns="0" rIns="0" bIns="0" rtlCol="0" anchor="t"/>
          <a:lstStyle/>
          <a:p>
            <a:pPr indent="0" marL="0">
              <a:buNone/>
            </a:pPr>
            <a:r>
              <a:rPr lang="en-US" sz="1400" b="1" dirty="0">
                <a:solidFill>
                  <a:srgbClr val="1A1A1A"/>
                </a:solidFill>
                <a:latin typeface="Calibri" pitchFamily="34" charset="0"/>
                <a:ea typeface="Calibri" pitchFamily="34" charset="-122"/>
                <a:cs typeface="Calibri" pitchFamily="34" charset="-120"/>
              </a:rPr>
              <a:t>Kerala and top stores lead</a:t>
            </a:r>
            <a:endParaRPr lang="en-US" sz="1400" dirty="0"/>
          </a:p>
          <a:p>
            <a:pPr indent="0" marL="0">
              <a:buNone/>
            </a:pPr>
            <a:r>
              <a:rPr lang="en-US" sz="1250" dirty="0">
                <a:solidFill>
                  <a:srgbClr val="4D4D4D"/>
                </a:solidFill>
                <a:latin typeface="Calibri" pitchFamily="34" charset="0"/>
                <a:ea typeface="Calibri" pitchFamily="34" charset="-122"/>
                <a:cs typeface="Calibri" pitchFamily="34" charset="-120"/>
              </a:rPr>
              <a:t>Kerala sells the most (₹25.6L). Our top 10 stores bring 27% of all sales.</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5E5E5"/>
        </a:solidFill>
      </p:bgPr>
    </p:bg>
    <p:spTree>
      <p:nvGrpSpPr>
        <p:cNvPr id="1" name=""/>
        <p:cNvGrpSpPr/>
        <p:nvPr/>
      </p:nvGrpSpPr>
      <p:grpSpPr>
        <a:xfrm>
          <a:off x="0" y="0"/>
          <a:ext cx="0" cy="0"/>
          <a:chOff x="0" y="0"/>
          <a:chExt cx="0" cy="0"/>
        </a:xfrm>
      </p:grpSpPr>
      <p:sp>
        <p:nvSpPr>
          <p:cNvPr id="2" name="Shape 0"/>
          <p:cNvSpPr/>
          <p:nvPr/>
        </p:nvSpPr>
        <p:spPr>
          <a:xfrm>
            <a:off x="0" y="0"/>
            <a:ext cx="12191695" cy="1051560"/>
          </a:xfrm>
          <a:prstGeom prst="rect">
            <a:avLst/>
          </a:prstGeom>
          <a:solidFill>
            <a:srgbClr val="A6A6A6"/>
          </a:solidFill>
          <a:ln w="12700">
            <a:solidFill>
              <a:srgbClr val="A6A6A6"/>
            </a:solidFill>
            <a:prstDash val="solid"/>
          </a:ln>
        </p:spPr>
      </p:sp>
      <p:sp>
        <p:nvSpPr>
          <p:cNvPr id="3" name="Text 1"/>
          <p:cNvSpPr txBox="1"/>
          <p:nvPr/>
        </p:nvSpPr>
        <p:spPr>
          <a:xfrm>
            <a:off x="548640" y="0"/>
            <a:ext cx="11064240" cy="1051560"/>
          </a:xfrm>
          <a:prstGeom prst="rect">
            <a:avLst/>
          </a:prstGeom>
          <a:noFill/>
          <a:ln/>
        </p:spPr>
        <p:txBody>
          <a:bodyPr wrap="square" lIns="0" tIns="0" rIns="0" bIns="0" rtlCol="0" anchor="ctr"/>
          <a:lstStyle/>
          <a:p>
            <a:pPr indent="0" marL="0">
              <a:buNone/>
            </a:pPr>
            <a:r>
              <a:rPr lang="en-US" sz="3000" b="1" dirty="0">
                <a:solidFill>
                  <a:srgbClr val="000000"/>
                </a:solidFill>
                <a:latin typeface="Cambria" pitchFamily="34" charset="0"/>
                <a:ea typeface="Cambria" pitchFamily="34" charset="-122"/>
                <a:cs typeface="Cambria" pitchFamily="34" charset="-120"/>
              </a:rPr>
              <a:t>What We Recommend</a:t>
            </a:r>
            <a:endParaRPr lang="en-US" sz="3000" dirty="0"/>
          </a:p>
        </p:txBody>
      </p:sp>
      <p:sp>
        <p:nvSpPr>
          <p:cNvPr id="4" name="Text 2"/>
          <p:cNvSpPr txBox="1"/>
          <p:nvPr/>
        </p:nvSpPr>
        <p:spPr>
          <a:xfrm>
            <a:off x="548640" y="1207008"/>
            <a:ext cx="11064240" cy="347472"/>
          </a:xfrm>
          <a:prstGeom prst="rect">
            <a:avLst/>
          </a:prstGeom>
          <a:noFill/>
          <a:ln/>
        </p:spPr>
        <p:txBody>
          <a:bodyPr wrap="square" lIns="0" tIns="0" rIns="0" bIns="0" rtlCol="0" anchor="ctr"/>
          <a:lstStyle/>
          <a:p>
            <a:pPr indent="0" marL="0">
              <a:buNone/>
            </a:pPr>
            <a:r>
              <a:rPr lang="en-US" sz="1400" i="1" dirty="0">
                <a:solidFill>
                  <a:srgbClr val="4D4D4D"/>
                </a:solidFill>
                <a:latin typeface="Calibri" pitchFamily="34" charset="0"/>
                <a:ea typeface="Calibri" pitchFamily="34" charset="-122"/>
                <a:cs typeface="Calibri" pitchFamily="34" charset="-120"/>
              </a:rPr>
              <a:t>Ideas for management to act on or look into — these are patterns in the data, not proven causes</a:t>
            </a:r>
            <a:endParaRPr lang="en-US" sz="1400" dirty="0"/>
          </a:p>
        </p:txBody>
      </p:sp>
      <p:sp>
        <p:nvSpPr>
          <p:cNvPr id="5" name="Shape 3"/>
          <p:cNvSpPr/>
          <p:nvPr/>
        </p:nvSpPr>
        <p:spPr>
          <a:xfrm>
            <a:off x="548640" y="1783080"/>
            <a:ext cx="3502152" cy="2148840"/>
          </a:xfrm>
          <a:prstGeom prst="roundRect">
            <a:avLst>
              <a:gd name="adj" fmla="val 4255"/>
            </a:avLst>
          </a:prstGeom>
          <a:solidFill>
            <a:srgbClr val="FFFFFF"/>
          </a:solidFill>
          <a:ln w="12700">
            <a:solidFill>
              <a:srgbClr val="BFBFBF"/>
            </a:solidFill>
            <a:prstDash val="solid"/>
          </a:ln>
          <a:effectLst>
            <a:outerShdw sx="100000" sy="100000" kx="0" ky="0" algn="bl" rotWithShape="0" blurRad="101600" dist="25400" dir="5400000">
              <a:srgbClr val="000000">
                <a:alpha val="15000"/>
              </a:srgbClr>
            </a:outerShdw>
          </a:effectLst>
        </p:spPr>
      </p:sp>
      <p:sp>
        <p:nvSpPr>
          <p:cNvPr id="6" name="Shape 4"/>
          <p:cNvSpPr/>
          <p:nvPr/>
        </p:nvSpPr>
        <p:spPr>
          <a:xfrm>
            <a:off x="822960" y="1984248"/>
            <a:ext cx="566928" cy="566928"/>
          </a:xfrm>
          <a:prstGeom prst="ellipse">
            <a:avLst/>
          </a:prstGeom>
          <a:solidFill>
            <a:srgbClr val="3972B9"/>
          </a:solidFill>
          <a:ln w="12700">
            <a:solidFill>
              <a:srgbClr val="3972B9"/>
            </a:solidFill>
            <a:prstDash val="solid"/>
          </a:ln>
        </p:spPr>
      </p:sp>
      <p:pic>
        <p:nvPicPr>
          <p:cNvPr id="7" name="Image 0" descr="preencoded.png">    </p:cNvPr>
          <p:cNvPicPr>
            <a:picLocks noChangeAspect="1"/>
          </p:cNvPicPr>
          <p:nvPr/>
        </p:nvPicPr>
        <p:blipFill>
          <a:blip r:embed="rId1"/>
          <a:stretch>
            <a:fillRect/>
          </a:stretch>
        </p:blipFill>
        <p:spPr>
          <a:xfrm>
            <a:off x="964692" y="2125980"/>
            <a:ext cx="283464" cy="283464"/>
          </a:xfrm>
          <a:prstGeom prst="rect">
            <a:avLst/>
          </a:prstGeom>
        </p:spPr>
      </p:pic>
      <p:sp>
        <p:nvSpPr>
          <p:cNvPr id="8" name="Text 5"/>
          <p:cNvSpPr txBox="1"/>
          <p:nvPr/>
        </p:nvSpPr>
        <p:spPr>
          <a:xfrm>
            <a:off x="822960" y="2651760"/>
            <a:ext cx="2953512" cy="320040"/>
          </a:xfrm>
          <a:prstGeom prst="rect">
            <a:avLst/>
          </a:prstGeom>
          <a:noFill/>
          <a:ln/>
        </p:spPr>
        <p:txBody>
          <a:bodyPr wrap="square" lIns="0" tIns="0" rIns="0" bIns="0" rtlCol="0" anchor="ctr"/>
          <a:lstStyle/>
          <a:p>
            <a:pPr indent="0" marL="0">
              <a:buNone/>
            </a:pPr>
            <a:r>
              <a:rPr lang="en-US" sz="1500" b="1" dirty="0">
                <a:solidFill>
                  <a:srgbClr val="3972B9"/>
                </a:solidFill>
                <a:latin typeface="Calibri" pitchFamily="34" charset="0"/>
                <a:ea typeface="Calibri" pitchFamily="34" charset="-122"/>
                <a:cs typeface="Calibri" pitchFamily="34" charset="-120"/>
              </a:rPr>
              <a:t>Limit Big Discounts</a:t>
            </a:r>
            <a:endParaRPr lang="en-US" sz="1500" dirty="0"/>
          </a:p>
        </p:txBody>
      </p:sp>
      <p:sp>
        <p:nvSpPr>
          <p:cNvPr id="9" name="Text 6"/>
          <p:cNvSpPr txBox="1"/>
          <p:nvPr/>
        </p:nvSpPr>
        <p:spPr>
          <a:xfrm>
            <a:off x="822960" y="2999232"/>
            <a:ext cx="2953512" cy="868680"/>
          </a:xfrm>
          <a:prstGeom prst="rect">
            <a:avLst/>
          </a:prstGeom>
          <a:noFill/>
          <a:ln/>
        </p:spPr>
        <p:txBody>
          <a:bodyPr wrap="square" lIns="0" tIns="0" rIns="0" bIns="0" rtlCol="0" anchor="t"/>
          <a:lstStyle/>
          <a:p>
            <a:pPr indent="0" marL="0">
              <a:buNone/>
            </a:pPr>
            <a:r>
              <a:rPr lang="en-US" sz="1300" dirty="0">
                <a:solidFill>
                  <a:srgbClr val="4D4D4D"/>
                </a:solidFill>
                <a:latin typeface="Calibri" pitchFamily="34" charset="0"/>
                <a:ea typeface="Calibri" pitchFamily="34" charset="-122"/>
                <a:cs typeface="Calibri" pitchFamily="34" charset="-120"/>
              </a:rPr>
              <a:t>Orders with 25–30% off are nearly 1 in 4, yet bring only 4.5% of profit. Most sales made at a loss (168 of 179) happen here.</a:t>
            </a:r>
            <a:endParaRPr lang="en-US" sz="1300" dirty="0"/>
          </a:p>
        </p:txBody>
      </p:sp>
      <p:sp>
        <p:nvSpPr>
          <p:cNvPr id="10" name="Shape 7"/>
          <p:cNvSpPr/>
          <p:nvPr/>
        </p:nvSpPr>
        <p:spPr>
          <a:xfrm>
            <a:off x="4343400" y="1783080"/>
            <a:ext cx="3502152" cy="2148840"/>
          </a:xfrm>
          <a:prstGeom prst="roundRect">
            <a:avLst>
              <a:gd name="adj" fmla="val 4255"/>
            </a:avLst>
          </a:prstGeom>
          <a:solidFill>
            <a:srgbClr val="FFFFFF"/>
          </a:solidFill>
          <a:ln w="12700">
            <a:solidFill>
              <a:srgbClr val="BFBFBF"/>
            </a:solidFill>
            <a:prstDash val="solid"/>
          </a:ln>
          <a:effectLst>
            <a:outerShdw sx="100000" sy="100000" kx="0" ky="0" algn="bl" rotWithShape="0" blurRad="101600" dist="25400" dir="5400000">
              <a:srgbClr val="000000">
                <a:alpha val="15000"/>
              </a:srgbClr>
            </a:outerShdw>
          </a:effectLst>
        </p:spPr>
      </p:sp>
      <p:sp>
        <p:nvSpPr>
          <p:cNvPr id="11" name="Shape 8"/>
          <p:cNvSpPr/>
          <p:nvPr/>
        </p:nvSpPr>
        <p:spPr>
          <a:xfrm>
            <a:off x="4617720" y="1984248"/>
            <a:ext cx="566928" cy="566928"/>
          </a:xfrm>
          <a:prstGeom prst="ellipse">
            <a:avLst/>
          </a:prstGeom>
          <a:solidFill>
            <a:srgbClr val="3972B9"/>
          </a:solidFill>
          <a:ln w="12700">
            <a:solidFill>
              <a:srgbClr val="3972B9"/>
            </a:solidFill>
            <a:prstDash val="solid"/>
          </a:ln>
        </p:spPr>
      </p:sp>
      <p:pic>
        <p:nvPicPr>
          <p:cNvPr id="12" name="Image 1" descr="preencoded.png">    </p:cNvPr>
          <p:cNvPicPr>
            <a:picLocks noChangeAspect="1"/>
          </p:cNvPicPr>
          <p:nvPr/>
        </p:nvPicPr>
        <p:blipFill>
          <a:blip r:embed="rId2"/>
          <a:stretch>
            <a:fillRect/>
          </a:stretch>
        </p:blipFill>
        <p:spPr>
          <a:xfrm>
            <a:off x="4759452" y="2125980"/>
            <a:ext cx="283464" cy="283464"/>
          </a:xfrm>
          <a:prstGeom prst="rect">
            <a:avLst/>
          </a:prstGeom>
        </p:spPr>
      </p:pic>
      <p:sp>
        <p:nvSpPr>
          <p:cNvPr id="13" name="Text 9"/>
          <p:cNvSpPr txBox="1"/>
          <p:nvPr/>
        </p:nvSpPr>
        <p:spPr>
          <a:xfrm>
            <a:off x="4617720" y="2651760"/>
            <a:ext cx="2953512" cy="320040"/>
          </a:xfrm>
          <a:prstGeom prst="rect">
            <a:avLst/>
          </a:prstGeom>
          <a:noFill/>
          <a:ln/>
        </p:spPr>
        <p:txBody>
          <a:bodyPr wrap="square" lIns="0" tIns="0" rIns="0" bIns="0" rtlCol="0" anchor="ctr"/>
          <a:lstStyle/>
          <a:p>
            <a:pPr indent="0" marL="0">
              <a:buNone/>
            </a:pPr>
            <a:r>
              <a:rPr lang="en-US" sz="1500" b="1" dirty="0">
                <a:solidFill>
                  <a:srgbClr val="3972B9"/>
                </a:solidFill>
                <a:latin typeface="Calibri" pitchFamily="34" charset="0"/>
                <a:ea typeface="Calibri" pitchFamily="34" charset="-122"/>
                <a:cs typeface="Calibri" pitchFamily="34" charset="-120"/>
              </a:rPr>
              <a:t>Check Handbag Returns</a:t>
            </a:r>
            <a:endParaRPr lang="en-US" sz="1500" dirty="0"/>
          </a:p>
        </p:txBody>
      </p:sp>
      <p:sp>
        <p:nvSpPr>
          <p:cNvPr id="14" name="Text 10"/>
          <p:cNvSpPr txBox="1"/>
          <p:nvPr/>
        </p:nvSpPr>
        <p:spPr>
          <a:xfrm>
            <a:off x="4617720" y="2999232"/>
            <a:ext cx="2953512" cy="868680"/>
          </a:xfrm>
          <a:prstGeom prst="rect">
            <a:avLst/>
          </a:prstGeom>
          <a:noFill/>
          <a:ln/>
        </p:spPr>
        <p:txBody>
          <a:bodyPr wrap="square" lIns="0" tIns="0" rIns="0" bIns="0" rtlCol="0" anchor="t"/>
          <a:lstStyle/>
          <a:p>
            <a:pPr indent="0" marL="0">
              <a:buNone/>
            </a:pPr>
            <a:r>
              <a:rPr lang="en-US" sz="1300" dirty="0">
                <a:solidFill>
                  <a:srgbClr val="4D4D4D"/>
                </a:solidFill>
                <a:latin typeface="Calibri" pitchFamily="34" charset="0"/>
                <a:ea typeface="Calibri" pitchFamily="34" charset="-122"/>
                <a:cs typeface="Calibri" pitchFamily="34" charset="-120"/>
              </a:rPr>
              <a:t>Nearly 3 in 10 handbags come back, against about 3 in 100 for other items. One sling bag alone has 51 of 81 sales returned.</a:t>
            </a:r>
            <a:endParaRPr lang="en-US" sz="1300" dirty="0"/>
          </a:p>
        </p:txBody>
      </p:sp>
      <p:sp>
        <p:nvSpPr>
          <p:cNvPr id="15" name="Shape 11"/>
          <p:cNvSpPr/>
          <p:nvPr/>
        </p:nvSpPr>
        <p:spPr>
          <a:xfrm>
            <a:off x="8138160" y="1783080"/>
            <a:ext cx="3502152" cy="2148840"/>
          </a:xfrm>
          <a:prstGeom prst="roundRect">
            <a:avLst>
              <a:gd name="adj" fmla="val 4255"/>
            </a:avLst>
          </a:prstGeom>
          <a:solidFill>
            <a:srgbClr val="FFFFFF"/>
          </a:solidFill>
          <a:ln w="12700">
            <a:solidFill>
              <a:srgbClr val="BFBFBF"/>
            </a:solidFill>
            <a:prstDash val="solid"/>
          </a:ln>
          <a:effectLst>
            <a:outerShdw sx="100000" sy="100000" kx="0" ky="0" algn="bl" rotWithShape="0" blurRad="101600" dist="25400" dir="5400000">
              <a:srgbClr val="000000">
                <a:alpha val="15000"/>
              </a:srgbClr>
            </a:outerShdw>
          </a:effectLst>
        </p:spPr>
      </p:sp>
      <p:sp>
        <p:nvSpPr>
          <p:cNvPr id="16" name="Shape 12"/>
          <p:cNvSpPr/>
          <p:nvPr/>
        </p:nvSpPr>
        <p:spPr>
          <a:xfrm>
            <a:off x="8412480" y="1984248"/>
            <a:ext cx="566928" cy="566928"/>
          </a:xfrm>
          <a:prstGeom prst="ellipse">
            <a:avLst/>
          </a:prstGeom>
          <a:solidFill>
            <a:srgbClr val="3972B9"/>
          </a:solidFill>
          <a:ln w="12700">
            <a:solidFill>
              <a:srgbClr val="3972B9"/>
            </a:solidFill>
            <a:prstDash val="solid"/>
          </a:ln>
        </p:spPr>
      </p:sp>
      <p:pic>
        <p:nvPicPr>
          <p:cNvPr id="17" name="Image 2" descr="preencoded.png">    </p:cNvPr>
          <p:cNvPicPr>
            <a:picLocks noChangeAspect="1"/>
          </p:cNvPicPr>
          <p:nvPr/>
        </p:nvPicPr>
        <p:blipFill>
          <a:blip r:embed="rId3"/>
          <a:stretch>
            <a:fillRect/>
          </a:stretch>
        </p:blipFill>
        <p:spPr>
          <a:xfrm>
            <a:off x="8554212" y="2125980"/>
            <a:ext cx="283464" cy="283464"/>
          </a:xfrm>
          <a:prstGeom prst="rect">
            <a:avLst/>
          </a:prstGeom>
        </p:spPr>
      </p:pic>
      <p:sp>
        <p:nvSpPr>
          <p:cNvPr id="18" name="Text 13"/>
          <p:cNvSpPr txBox="1"/>
          <p:nvPr/>
        </p:nvSpPr>
        <p:spPr>
          <a:xfrm>
            <a:off x="8412480" y="2651760"/>
            <a:ext cx="2953512" cy="320040"/>
          </a:xfrm>
          <a:prstGeom prst="rect">
            <a:avLst/>
          </a:prstGeom>
          <a:noFill/>
          <a:ln/>
        </p:spPr>
        <p:txBody>
          <a:bodyPr wrap="square" lIns="0" tIns="0" rIns="0" bIns="0" rtlCol="0" anchor="ctr"/>
          <a:lstStyle/>
          <a:p>
            <a:pPr indent="0" marL="0">
              <a:buNone/>
            </a:pPr>
            <a:r>
              <a:rPr lang="en-US" sz="1500" b="1" dirty="0">
                <a:solidFill>
                  <a:srgbClr val="3972B9"/>
                </a:solidFill>
                <a:latin typeface="Calibri" pitchFamily="34" charset="0"/>
                <a:ea typeface="Calibri" pitchFamily="34" charset="-122"/>
                <a:cs typeface="Calibri" pitchFamily="34" charset="-120"/>
              </a:rPr>
              <a:t>Sell More High-Profit Items</a:t>
            </a:r>
            <a:endParaRPr lang="en-US" sz="1500" dirty="0"/>
          </a:p>
        </p:txBody>
      </p:sp>
      <p:sp>
        <p:nvSpPr>
          <p:cNvPr id="19" name="Text 14"/>
          <p:cNvSpPr txBox="1"/>
          <p:nvPr/>
        </p:nvSpPr>
        <p:spPr>
          <a:xfrm>
            <a:off x="8412480" y="2999232"/>
            <a:ext cx="2953512" cy="868680"/>
          </a:xfrm>
          <a:prstGeom prst="rect">
            <a:avLst/>
          </a:prstGeom>
          <a:noFill/>
          <a:ln/>
        </p:spPr>
        <p:txBody>
          <a:bodyPr wrap="square" lIns="0" tIns="0" rIns="0" bIns="0" rtlCol="0" anchor="t"/>
          <a:lstStyle/>
          <a:p>
            <a:pPr indent="0" marL="0">
              <a:buNone/>
            </a:pPr>
            <a:r>
              <a:rPr lang="en-US" sz="1300" dirty="0">
                <a:solidFill>
                  <a:srgbClr val="4D4D4D"/>
                </a:solidFill>
                <a:latin typeface="Calibri" pitchFamily="34" charset="0"/>
                <a:ea typeface="Calibri" pitchFamily="34" charset="-122"/>
                <a:cs typeface="Calibri" pitchFamily="34" charset="-120"/>
              </a:rPr>
              <a:t>Accessories and Men’s T-Shirts keep about ₹30–33 from every ₹100 sold, but they are only 5% of our sales.</a:t>
            </a:r>
            <a:endParaRPr lang="en-US" sz="1300" dirty="0"/>
          </a:p>
        </p:txBody>
      </p:sp>
      <p:sp>
        <p:nvSpPr>
          <p:cNvPr id="20" name="Shape 15"/>
          <p:cNvSpPr/>
          <p:nvPr/>
        </p:nvSpPr>
        <p:spPr>
          <a:xfrm>
            <a:off x="548640" y="4114800"/>
            <a:ext cx="3502152" cy="2148840"/>
          </a:xfrm>
          <a:prstGeom prst="roundRect">
            <a:avLst>
              <a:gd name="adj" fmla="val 4255"/>
            </a:avLst>
          </a:prstGeom>
          <a:solidFill>
            <a:srgbClr val="FFFFFF"/>
          </a:solidFill>
          <a:ln w="12700">
            <a:solidFill>
              <a:srgbClr val="BFBFBF"/>
            </a:solidFill>
            <a:prstDash val="solid"/>
          </a:ln>
          <a:effectLst>
            <a:outerShdw sx="100000" sy="100000" kx="0" ky="0" algn="bl" rotWithShape="0" blurRad="101600" dist="25400" dir="5400000">
              <a:srgbClr val="000000">
                <a:alpha val="15000"/>
              </a:srgbClr>
            </a:outerShdw>
          </a:effectLst>
        </p:spPr>
      </p:sp>
      <p:sp>
        <p:nvSpPr>
          <p:cNvPr id="21" name="Shape 16"/>
          <p:cNvSpPr/>
          <p:nvPr/>
        </p:nvSpPr>
        <p:spPr>
          <a:xfrm>
            <a:off x="822960" y="4315968"/>
            <a:ext cx="566928" cy="566928"/>
          </a:xfrm>
          <a:prstGeom prst="ellipse">
            <a:avLst/>
          </a:prstGeom>
          <a:solidFill>
            <a:srgbClr val="3972B9"/>
          </a:solidFill>
          <a:ln w="12700">
            <a:solidFill>
              <a:srgbClr val="3972B9"/>
            </a:solidFill>
            <a:prstDash val="solid"/>
          </a:ln>
        </p:spPr>
      </p:sp>
      <p:pic>
        <p:nvPicPr>
          <p:cNvPr id="22" name="Image 3" descr="preencoded.png">    </p:cNvPr>
          <p:cNvPicPr>
            <a:picLocks noChangeAspect="1"/>
          </p:cNvPicPr>
          <p:nvPr/>
        </p:nvPicPr>
        <p:blipFill>
          <a:blip r:embed="rId4"/>
          <a:stretch>
            <a:fillRect/>
          </a:stretch>
        </p:blipFill>
        <p:spPr>
          <a:xfrm>
            <a:off x="964692" y="4457700"/>
            <a:ext cx="283464" cy="283464"/>
          </a:xfrm>
          <a:prstGeom prst="rect">
            <a:avLst/>
          </a:prstGeom>
        </p:spPr>
      </p:pic>
      <p:sp>
        <p:nvSpPr>
          <p:cNvPr id="23" name="Text 17"/>
          <p:cNvSpPr txBox="1"/>
          <p:nvPr/>
        </p:nvSpPr>
        <p:spPr>
          <a:xfrm>
            <a:off x="822960" y="4983480"/>
            <a:ext cx="2953512" cy="320040"/>
          </a:xfrm>
          <a:prstGeom prst="rect">
            <a:avLst/>
          </a:prstGeom>
          <a:noFill/>
          <a:ln/>
        </p:spPr>
        <p:txBody>
          <a:bodyPr wrap="square" lIns="0" tIns="0" rIns="0" bIns="0" rtlCol="0" anchor="ctr"/>
          <a:lstStyle/>
          <a:p>
            <a:pPr indent="0" marL="0">
              <a:buNone/>
            </a:pPr>
            <a:r>
              <a:rPr lang="en-US" sz="1500" b="1" dirty="0">
                <a:solidFill>
                  <a:srgbClr val="3972B9"/>
                </a:solidFill>
                <a:latin typeface="Calibri" pitchFamily="34" charset="0"/>
                <a:ea typeface="Calibri" pitchFamily="34" charset="-122"/>
                <a:cs typeface="Calibri" pitchFamily="34" charset="-120"/>
              </a:rPr>
              <a:t>Fix Low-Profit Products</a:t>
            </a:r>
            <a:endParaRPr lang="en-US" sz="1500" dirty="0"/>
          </a:p>
        </p:txBody>
      </p:sp>
      <p:sp>
        <p:nvSpPr>
          <p:cNvPr id="24" name="Text 18"/>
          <p:cNvSpPr txBox="1"/>
          <p:nvPr/>
        </p:nvSpPr>
        <p:spPr>
          <a:xfrm>
            <a:off x="822960" y="5330952"/>
            <a:ext cx="2953512" cy="868680"/>
          </a:xfrm>
          <a:prstGeom prst="rect">
            <a:avLst/>
          </a:prstGeom>
          <a:noFill/>
          <a:ln/>
        </p:spPr>
        <p:txBody>
          <a:bodyPr wrap="square" lIns="0" tIns="0" rIns="0" bIns="0" rtlCol="0" anchor="t"/>
          <a:lstStyle/>
          <a:p>
            <a:pPr indent="0" marL="0">
              <a:buNone/>
            </a:pPr>
            <a:r>
              <a:rPr lang="en-US" sz="1300" dirty="0">
                <a:solidFill>
                  <a:srgbClr val="4D4D4D"/>
                </a:solidFill>
                <a:latin typeface="Calibri" pitchFamily="34" charset="0"/>
                <a:ea typeface="Calibri" pitchFamily="34" charset="-122"/>
                <a:cs typeface="Calibri" pitchFamily="34" charset="-120"/>
              </a:rPr>
              <a:t>Sarees sell the most but keep a bit less than average (18.5%). Men’s Jeans keep only 14.8%. Review prices and buying costs.</a:t>
            </a:r>
            <a:endParaRPr lang="en-US" sz="1300" dirty="0"/>
          </a:p>
        </p:txBody>
      </p:sp>
      <p:sp>
        <p:nvSpPr>
          <p:cNvPr id="25" name="Shape 19"/>
          <p:cNvSpPr/>
          <p:nvPr/>
        </p:nvSpPr>
        <p:spPr>
          <a:xfrm>
            <a:off x="4343400" y="4114800"/>
            <a:ext cx="3502152" cy="2148840"/>
          </a:xfrm>
          <a:prstGeom prst="roundRect">
            <a:avLst>
              <a:gd name="adj" fmla="val 4255"/>
            </a:avLst>
          </a:prstGeom>
          <a:solidFill>
            <a:srgbClr val="FFFFFF"/>
          </a:solidFill>
          <a:ln w="12700">
            <a:solidFill>
              <a:srgbClr val="BFBFBF"/>
            </a:solidFill>
            <a:prstDash val="solid"/>
          </a:ln>
          <a:effectLst>
            <a:outerShdw sx="100000" sy="100000" kx="0" ky="0" algn="bl" rotWithShape="0" blurRad="101600" dist="25400" dir="5400000">
              <a:srgbClr val="000000">
                <a:alpha val="15000"/>
              </a:srgbClr>
            </a:outerShdw>
          </a:effectLst>
        </p:spPr>
      </p:sp>
      <p:sp>
        <p:nvSpPr>
          <p:cNvPr id="26" name="Shape 20"/>
          <p:cNvSpPr/>
          <p:nvPr/>
        </p:nvSpPr>
        <p:spPr>
          <a:xfrm>
            <a:off x="4617720" y="4315968"/>
            <a:ext cx="566928" cy="566928"/>
          </a:xfrm>
          <a:prstGeom prst="ellipse">
            <a:avLst/>
          </a:prstGeom>
          <a:solidFill>
            <a:srgbClr val="3972B9"/>
          </a:solidFill>
          <a:ln w="12700">
            <a:solidFill>
              <a:srgbClr val="3972B9"/>
            </a:solidFill>
            <a:prstDash val="solid"/>
          </a:ln>
        </p:spPr>
      </p:sp>
      <p:pic>
        <p:nvPicPr>
          <p:cNvPr id="27" name="Image 4" descr="preencoded.png">    </p:cNvPr>
          <p:cNvPicPr>
            <a:picLocks noChangeAspect="1"/>
          </p:cNvPicPr>
          <p:nvPr/>
        </p:nvPicPr>
        <p:blipFill>
          <a:blip r:embed="rId5"/>
          <a:stretch>
            <a:fillRect/>
          </a:stretch>
        </p:blipFill>
        <p:spPr>
          <a:xfrm>
            <a:off x="4759452" y="4457700"/>
            <a:ext cx="283464" cy="283464"/>
          </a:xfrm>
          <a:prstGeom prst="rect">
            <a:avLst/>
          </a:prstGeom>
        </p:spPr>
      </p:pic>
      <p:sp>
        <p:nvSpPr>
          <p:cNvPr id="28" name="Text 21"/>
          <p:cNvSpPr txBox="1"/>
          <p:nvPr/>
        </p:nvSpPr>
        <p:spPr>
          <a:xfrm>
            <a:off x="4617720" y="4983480"/>
            <a:ext cx="2953512" cy="320040"/>
          </a:xfrm>
          <a:prstGeom prst="rect">
            <a:avLst/>
          </a:prstGeom>
          <a:noFill/>
          <a:ln/>
        </p:spPr>
        <p:txBody>
          <a:bodyPr wrap="square" lIns="0" tIns="0" rIns="0" bIns="0" rtlCol="0" anchor="ctr"/>
          <a:lstStyle/>
          <a:p>
            <a:pPr indent="0" marL="0">
              <a:buNone/>
            </a:pPr>
            <a:r>
              <a:rPr lang="en-US" sz="1500" b="1" dirty="0">
                <a:solidFill>
                  <a:srgbClr val="3972B9"/>
                </a:solidFill>
                <a:latin typeface="Calibri" pitchFamily="34" charset="0"/>
                <a:ea typeface="Calibri" pitchFamily="34" charset="-122"/>
                <a:cs typeface="Calibri" pitchFamily="34" charset="-120"/>
              </a:rPr>
              <a:t>Cut Discounts at Outlet Stores</a:t>
            </a:r>
            <a:endParaRPr lang="en-US" sz="1500" dirty="0"/>
          </a:p>
        </p:txBody>
      </p:sp>
      <p:sp>
        <p:nvSpPr>
          <p:cNvPr id="29" name="Text 22"/>
          <p:cNvSpPr txBox="1"/>
          <p:nvPr/>
        </p:nvSpPr>
        <p:spPr>
          <a:xfrm>
            <a:off x="4617720" y="5330952"/>
            <a:ext cx="2953512" cy="868680"/>
          </a:xfrm>
          <a:prstGeom prst="rect">
            <a:avLst/>
          </a:prstGeom>
          <a:noFill/>
          <a:ln/>
        </p:spPr>
        <p:txBody>
          <a:bodyPr wrap="square" lIns="0" tIns="0" rIns="0" bIns="0" rtlCol="0" anchor="t"/>
          <a:lstStyle/>
          <a:p>
            <a:pPr indent="0" marL="0">
              <a:buNone/>
            </a:pPr>
            <a:r>
              <a:rPr lang="en-US" sz="1300" dirty="0">
                <a:solidFill>
                  <a:srgbClr val="4D4D4D"/>
                </a:solidFill>
                <a:latin typeface="Calibri" pitchFamily="34" charset="0"/>
                <a:ea typeface="Calibri" pitchFamily="34" charset="-122"/>
                <a:cs typeface="Calibri" pitchFamily="34" charset="-120"/>
              </a:rPr>
              <a:t>Outlets give the biggest discounts and keep the least profit (18.2%), compared with 20.9% at flagship stores.</a:t>
            </a:r>
            <a:endParaRPr lang="en-US" sz="1300" dirty="0"/>
          </a:p>
        </p:txBody>
      </p:sp>
      <p:sp>
        <p:nvSpPr>
          <p:cNvPr id="30" name="Shape 23"/>
          <p:cNvSpPr/>
          <p:nvPr/>
        </p:nvSpPr>
        <p:spPr>
          <a:xfrm>
            <a:off x="8138160" y="4114800"/>
            <a:ext cx="3502152" cy="2148840"/>
          </a:xfrm>
          <a:prstGeom prst="roundRect">
            <a:avLst>
              <a:gd name="adj" fmla="val 4255"/>
            </a:avLst>
          </a:prstGeom>
          <a:solidFill>
            <a:srgbClr val="FFFFFF"/>
          </a:solidFill>
          <a:ln w="12700">
            <a:solidFill>
              <a:srgbClr val="BFBFBF"/>
            </a:solidFill>
            <a:prstDash val="solid"/>
          </a:ln>
          <a:effectLst>
            <a:outerShdw sx="100000" sy="100000" kx="0" ky="0" algn="bl" rotWithShape="0" blurRad="101600" dist="25400" dir="5400000">
              <a:srgbClr val="000000">
                <a:alpha val="15000"/>
              </a:srgbClr>
            </a:outerShdw>
          </a:effectLst>
        </p:spPr>
      </p:sp>
      <p:sp>
        <p:nvSpPr>
          <p:cNvPr id="31" name="Shape 24"/>
          <p:cNvSpPr/>
          <p:nvPr/>
        </p:nvSpPr>
        <p:spPr>
          <a:xfrm>
            <a:off x="8412480" y="4315968"/>
            <a:ext cx="566928" cy="566928"/>
          </a:xfrm>
          <a:prstGeom prst="ellipse">
            <a:avLst/>
          </a:prstGeom>
          <a:solidFill>
            <a:srgbClr val="3972B9"/>
          </a:solidFill>
          <a:ln w="12700">
            <a:solidFill>
              <a:srgbClr val="3972B9"/>
            </a:solidFill>
            <a:prstDash val="solid"/>
          </a:ln>
        </p:spPr>
      </p:sp>
      <p:pic>
        <p:nvPicPr>
          <p:cNvPr id="32" name="Image 5" descr="preencoded.png">    </p:cNvPr>
          <p:cNvPicPr>
            <a:picLocks noChangeAspect="1"/>
          </p:cNvPicPr>
          <p:nvPr/>
        </p:nvPicPr>
        <p:blipFill>
          <a:blip r:embed="rId6"/>
          <a:stretch>
            <a:fillRect/>
          </a:stretch>
        </p:blipFill>
        <p:spPr>
          <a:xfrm>
            <a:off x="8554212" y="4457700"/>
            <a:ext cx="283464" cy="283464"/>
          </a:xfrm>
          <a:prstGeom prst="rect">
            <a:avLst/>
          </a:prstGeom>
        </p:spPr>
      </p:pic>
      <p:sp>
        <p:nvSpPr>
          <p:cNvPr id="33" name="Text 25"/>
          <p:cNvSpPr txBox="1"/>
          <p:nvPr/>
        </p:nvSpPr>
        <p:spPr>
          <a:xfrm>
            <a:off x="8412480" y="4983480"/>
            <a:ext cx="2953512" cy="320040"/>
          </a:xfrm>
          <a:prstGeom prst="rect">
            <a:avLst/>
          </a:prstGeom>
          <a:noFill/>
          <a:ln/>
        </p:spPr>
        <p:txBody>
          <a:bodyPr wrap="square" lIns="0" tIns="0" rIns="0" bIns="0" rtlCol="0" anchor="ctr"/>
          <a:lstStyle/>
          <a:p>
            <a:pPr indent="0" marL="0">
              <a:buNone/>
            </a:pPr>
            <a:r>
              <a:rPr lang="en-US" sz="1500" b="1" dirty="0">
                <a:solidFill>
                  <a:srgbClr val="3972B9"/>
                </a:solidFill>
                <a:latin typeface="Calibri" pitchFamily="34" charset="0"/>
                <a:ea typeface="Calibri" pitchFamily="34" charset="-122"/>
                <a:cs typeface="Calibri" pitchFamily="34" charset="-120"/>
              </a:rPr>
              <a:t>Grow Online, Carefully</a:t>
            </a:r>
            <a:endParaRPr lang="en-US" sz="1500" dirty="0"/>
          </a:p>
        </p:txBody>
      </p:sp>
      <p:sp>
        <p:nvSpPr>
          <p:cNvPr id="34" name="Text 26"/>
          <p:cNvSpPr txBox="1"/>
          <p:nvPr/>
        </p:nvSpPr>
        <p:spPr>
          <a:xfrm>
            <a:off x="8412480" y="5330952"/>
            <a:ext cx="2953512" cy="868680"/>
          </a:xfrm>
          <a:prstGeom prst="rect">
            <a:avLst/>
          </a:prstGeom>
          <a:noFill/>
          <a:ln/>
        </p:spPr>
        <p:txBody>
          <a:bodyPr wrap="square" lIns="0" tIns="0" rIns="0" bIns="0" rtlCol="0" anchor="t"/>
          <a:lstStyle/>
          <a:p>
            <a:pPr indent="0" marL="0">
              <a:buNone/>
            </a:pPr>
            <a:r>
              <a:rPr lang="en-US" sz="1300" dirty="0">
                <a:solidFill>
                  <a:srgbClr val="4D4D4D"/>
                </a:solidFill>
                <a:latin typeface="Calibri" pitchFamily="34" charset="0"/>
                <a:ea typeface="Calibri" pitchFamily="34" charset="-122"/>
                <a:cs typeface="Calibri" pitchFamily="34" charset="-120"/>
              </a:rPr>
              <a:t>Online earns as much profit per sale as our stores. Grow it, but keep the same limits on discounts.</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TrendMart: Are We Really Making Money?</dc:title>
  <dc:subject>PptxGenJS Presentation</dc:subject>
  <dc:creator>PptxGenJS</dc:creator>
  <cp:lastModifiedBy>PptxGenJS</cp:lastModifiedBy>
  <cp:revision>1</cp:revision>
  <dcterms:created xsi:type="dcterms:W3CDTF">2026-09-19T17:04:49Z</dcterms:created>
  <dcterms:modified xsi:type="dcterms:W3CDTF">2026-09-19T17:04:49Z</dcterms:modified>
</cp:coreProperties>
</file>