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Today I am presenting the FreshMart Sales Analysis Dashboard, built against the FreshMart Business Requirements Document. FreshMart is a multi-location retail business with different products, customers, stores, regions and sales channels. The flow is: the business problem, the dashboard solution, and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BRD states the problem clearly: management has no single consolidated view of performance, so it cannot easily tell which stores, products, customer segments and channels are driving profitable growth, and which need attention. High sales alone do not mean strong performance, because discounts, costs and returns can reduce profit. These KPI cards give the overview: about Rs 28.95 lakh in sales, Rs 7.37 lakh profit, a 25.47% margin, 2,500 transactions, and 649 of the 700 registered customers actually purchased. The six areas on the right are the views the dashboard uses to answer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an interactive Excel dashboard: cleaned data with calculated columns, PivotTables and PivotCharts, and KPI cards with slicers for Payment Mode, Sales Channel and Return Status. Key insights over the full period: Gold members are under a quarter of buyers but generate about 60% of sales. In-Store is about 69% of sales and digital about 31%, at similar margins. Weekends earn about 60% of profit from about half the sales. South delivers about 65% of sales. NOTE: the charts in the screenshot are filtered to Jan-Mar 2026, so the pie shows 71% In-Store; the full-period figure is 69%. The dashboard shows the pattern; the reason behind it needs further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areas for management to act on or investigate, not proven causes. Deeper discounts reduce margin from about 31% to 14%. Retain Gold members. Evaluate the digital channels before investing. Bakery earns about 20% of profit from 13% of sales. Weekday margin is about 20% against 31% at weekends. East and North stores sell far less per store than South. Key takeaway: sales alone should not be used to measure performance; profitability, customers, channels, categories and regions must be read together.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B2B6E"/>
          </a:solidFill>
          <a:ln/>
        </p:spPr>
      </p:sp>
      <p:sp>
        <p:nvSpPr>
          <p:cNvPr id="3" name="Text 1"/>
          <p:cNvSpPr txBox="1"/>
          <p:nvPr/>
        </p:nvSpPr>
        <p:spPr>
          <a:xfrm>
            <a:off x="548640" y="0"/>
            <a:ext cx="11064240" cy="10515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FreshMart Sales Analysis</a:t>
            </a:r>
            <a:endParaRPr lang="en-US" sz="3000" dirty="0"/>
          </a:p>
        </p:txBody>
      </p:sp>
      <p:sp>
        <p:nvSpPr>
          <p:cNvPr id="4" name="Shape 2"/>
          <p:cNvSpPr/>
          <p:nvPr/>
        </p:nvSpPr>
        <p:spPr>
          <a:xfrm>
            <a:off x="5394960" y="1600200"/>
            <a:ext cx="1371600" cy="1371600"/>
          </a:xfrm>
          <a:prstGeom prst="ellipse">
            <a:avLst/>
          </a:prstGeom>
          <a:solidFill>
            <a:srgbClr val="F2B84B"/>
          </a:solidFill>
          <a:ln/>
        </p:spPr>
      </p:sp>
      <p:pic>
        <p:nvPicPr>
          <p:cNvPr id="5" name="Image 0" descr="icons/cart.png">    </p:cNvPr>
          <p:cNvPicPr>
            <a:picLocks noChangeAspect="1"/>
          </p:cNvPicPr>
          <p:nvPr/>
        </p:nvPicPr>
        <p:blipFill>
          <a:blip r:embed="rId1"/>
          <a:stretch>
            <a:fillRect/>
          </a:stretch>
        </p:blipFill>
        <p:spPr>
          <a:xfrm>
            <a:off x="5703570" y="1908810"/>
            <a:ext cx="754380" cy="754380"/>
          </a:xfrm>
          <a:prstGeom prst="rect">
            <a:avLst/>
          </a:prstGeom>
        </p:spPr>
      </p:pic>
      <p:sp>
        <p:nvSpPr>
          <p:cNvPr id="6" name="Text 3"/>
          <p:cNvSpPr txBox="1"/>
          <p:nvPr/>
        </p:nvSpPr>
        <p:spPr>
          <a:xfrm>
            <a:off x="1280160" y="3246120"/>
            <a:ext cx="9601200" cy="548640"/>
          </a:xfrm>
          <a:prstGeom prst="rect">
            <a:avLst/>
          </a:prstGeom>
          <a:noFill/>
          <a:ln/>
        </p:spPr>
        <p:txBody>
          <a:bodyPr wrap="square" lIns="0" tIns="0" rIns="0" bIns="0" rtlCol="0" anchor="ctr"/>
          <a:lstStyle/>
          <a:p>
            <a:pPr algn="ctr" indent="0" marL="0">
              <a:buNone/>
            </a:pPr>
            <a:r>
              <a:rPr lang="en-US" sz="1400" i="1" dirty="0">
                <a:solidFill>
                  <a:srgbClr val="6B5E7A"/>
                </a:solidFill>
                <a:latin typeface="Calibri" pitchFamily="34" charset="0"/>
                <a:ea typeface="Calibri" pitchFamily="34" charset="-122"/>
                <a:cs typeface="Calibri" pitchFamily="34" charset="-120"/>
              </a:rPr>
              <a:t>Turning retail transactions into business decisions — an Excel dashboard built to the FreshMart BRD.</a:t>
            </a:r>
            <a:endParaRPr lang="en-US" sz="1400" dirty="0"/>
          </a:p>
        </p:txBody>
      </p:sp>
      <p:sp>
        <p:nvSpPr>
          <p:cNvPr id="7" name="Shape 4"/>
          <p:cNvSpPr/>
          <p:nvPr/>
        </p:nvSpPr>
        <p:spPr>
          <a:xfrm>
            <a:off x="4846320" y="4114800"/>
            <a:ext cx="2514600" cy="658368"/>
          </a:xfrm>
          <a:prstGeom prst="roundRect">
            <a:avLst>
              <a:gd name="adj" fmla="val 13889"/>
            </a:avLst>
          </a:prstGeom>
          <a:solidFill>
            <a:srgbClr val="FFFFFF"/>
          </a:solidFill>
          <a:ln w="12700">
            <a:solidFill>
              <a:srgbClr val="E4DBEE"/>
            </a:solidFill>
            <a:prstDash val="solid"/>
          </a:ln>
          <a:effectLst>
            <a:outerShdw sx="100000" sy="100000" kx="0" ky="0" algn="bl" rotWithShape="0" blurRad="76200" dist="25400" dir="5400000">
              <a:srgbClr val="9B8AAE">
                <a:alpha val="25000"/>
              </a:srgbClr>
            </a:outerShdw>
          </a:effectLst>
        </p:spPr>
      </p:sp>
      <p:sp>
        <p:nvSpPr>
          <p:cNvPr id="8" name="Text 5"/>
          <p:cNvSpPr txBox="1"/>
          <p:nvPr/>
        </p:nvSpPr>
        <p:spPr>
          <a:xfrm>
            <a:off x="4846320" y="4114800"/>
            <a:ext cx="2514600" cy="658368"/>
          </a:xfrm>
          <a:prstGeom prst="rect">
            <a:avLst/>
          </a:prstGeom>
          <a:noFill/>
          <a:ln/>
        </p:spPr>
        <p:txBody>
          <a:bodyPr wrap="square" lIns="0" tIns="0" rIns="0" bIns="0" rtlCol="0" anchor="ctr"/>
          <a:lstStyle/>
          <a:p>
            <a:pPr algn="ctr" indent="0" marL="0">
              <a:buNone/>
            </a:pPr>
            <a:r>
              <a:rPr lang="en-US" sz="1400" b="1" dirty="0">
                <a:solidFill>
                  <a:srgbClr val="4B2B6E"/>
                </a:solidFill>
                <a:latin typeface="Calibri" pitchFamily="34" charset="0"/>
                <a:ea typeface="Calibri" pitchFamily="34" charset="-122"/>
                <a:cs typeface="Calibri" pitchFamily="34" charset="-120"/>
              </a:rPr>
              <a:t>Presented by Keerthana</a:t>
            </a:r>
            <a:endParaRPr lang="en-US" sz="1400" dirty="0"/>
          </a:p>
        </p:txBody>
      </p:sp>
      <p:sp>
        <p:nvSpPr>
          <p:cNvPr id="9" name="Text 6"/>
          <p:cNvSpPr txBox="1"/>
          <p:nvPr/>
        </p:nvSpPr>
        <p:spPr>
          <a:xfrm>
            <a:off x="1280160" y="5212080"/>
            <a:ext cx="9601200" cy="457200"/>
          </a:xfrm>
          <a:prstGeom prst="rect">
            <a:avLst/>
          </a:prstGeom>
          <a:noFill/>
          <a:ln/>
        </p:spPr>
        <p:txBody>
          <a:bodyPr wrap="square" lIns="0" tIns="0" rIns="0" bIns="0" rtlCol="0" anchor="ctr"/>
          <a:lstStyle/>
          <a:p>
            <a:pPr algn="ctr" indent="0" marL="0">
              <a:buNone/>
            </a:pPr>
            <a:r>
              <a:rPr lang="en-US" sz="1400" dirty="0">
                <a:solidFill>
                  <a:srgbClr val="6B5E7A"/>
                </a:solidFill>
                <a:latin typeface="Calibri" pitchFamily="34" charset="0"/>
                <a:ea typeface="Calibri" pitchFamily="34" charset="-122"/>
                <a:cs typeface="Calibri" pitchFamily="34" charset="-120"/>
              </a:rPr>
              <a:t>Problem  →  Solution  →  Recommendations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B2B6E"/>
          </a:solidFill>
          <a:ln/>
        </p:spPr>
      </p:sp>
      <p:sp>
        <p:nvSpPr>
          <p:cNvPr id="3" name="Text 1"/>
          <p:cNvSpPr txBox="1"/>
          <p:nvPr/>
        </p:nvSpPr>
        <p:spPr>
          <a:xfrm>
            <a:off x="548640" y="0"/>
            <a:ext cx="11064240" cy="10515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Business Problem</a:t>
            </a:r>
            <a:endParaRPr lang="en-US" sz="3000" dirty="0"/>
          </a:p>
        </p:txBody>
      </p:sp>
      <p:sp>
        <p:nvSpPr>
          <p:cNvPr id="4" name="Shape 2"/>
          <p:cNvSpPr/>
          <p:nvPr/>
        </p:nvSpPr>
        <p:spPr>
          <a:xfrm>
            <a:off x="548640" y="1325880"/>
            <a:ext cx="6583680" cy="1691640"/>
          </a:xfrm>
          <a:prstGeom prst="roundRect">
            <a:avLst>
              <a:gd name="adj" fmla="val 5405"/>
            </a:avLst>
          </a:prstGeom>
          <a:solidFill>
            <a:srgbClr val="FFFFFF"/>
          </a:solidFill>
          <a:ln w="12700">
            <a:solidFill>
              <a:srgbClr val="E4DBEE"/>
            </a:solidFill>
            <a:prstDash val="solid"/>
          </a:ln>
          <a:effectLst>
            <a:outerShdw sx="100000" sy="100000" kx="0" ky="0" algn="bl" rotWithShape="0" blurRad="76200" dist="25400" dir="5400000">
              <a:srgbClr val="9B8AAE">
                <a:alpha val="25000"/>
              </a:srgbClr>
            </a:outerShdw>
          </a:effectLst>
        </p:spPr>
      </p:sp>
      <p:sp>
        <p:nvSpPr>
          <p:cNvPr id="5" name="Shape 3"/>
          <p:cNvSpPr/>
          <p:nvPr/>
        </p:nvSpPr>
        <p:spPr>
          <a:xfrm>
            <a:off x="822960" y="1627632"/>
            <a:ext cx="1051560" cy="1051560"/>
          </a:xfrm>
          <a:prstGeom prst="ellipse">
            <a:avLst/>
          </a:prstGeom>
          <a:solidFill>
            <a:srgbClr val="D64545"/>
          </a:solidFill>
          <a:ln/>
        </p:spPr>
      </p:sp>
      <p:pic>
        <p:nvPicPr>
          <p:cNvPr id="6" name="Image 0" descr="icons/trenddown.png">    </p:cNvPr>
          <p:cNvPicPr>
            <a:picLocks noChangeAspect="1"/>
          </p:cNvPicPr>
          <p:nvPr/>
        </p:nvPicPr>
        <p:blipFill>
          <a:blip r:embed="rId1"/>
          <a:stretch>
            <a:fillRect/>
          </a:stretch>
        </p:blipFill>
        <p:spPr>
          <a:xfrm>
            <a:off x="1059561" y="1864233"/>
            <a:ext cx="578358" cy="578358"/>
          </a:xfrm>
          <a:prstGeom prst="rect">
            <a:avLst/>
          </a:prstGeom>
        </p:spPr>
      </p:pic>
      <p:sp>
        <p:nvSpPr>
          <p:cNvPr id="7" name="Text 4"/>
          <p:cNvSpPr txBox="1"/>
          <p:nvPr/>
        </p:nvSpPr>
        <p:spPr>
          <a:xfrm>
            <a:off x="2057400" y="1481328"/>
            <a:ext cx="4846320" cy="365760"/>
          </a:xfrm>
          <a:prstGeom prst="rect">
            <a:avLst/>
          </a:prstGeom>
          <a:noFill/>
          <a:ln/>
        </p:spPr>
        <p:txBody>
          <a:bodyPr wrap="square" lIns="0" tIns="0" rIns="0" bIns="0" rtlCol="0" anchor="ctr"/>
          <a:lstStyle/>
          <a:p>
            <a:pPr indent="0" marL="0">
              <a:buNone/>
            </a:pPr>
            <a:r>
              <a:rPr lang="en-US" sz="1400" b="1" dirty="0">
                <a:solidFill>
                  <a:srgbClr val="2E1F3D"/>
                </a:solidFill>
                <a:latin typeface="Calibri" pitchFamily="34" charset="0"/>
                <a:ea typeface="Calibri" pitchFamily="34" charset="-122"/>
                <a:cs typeface="Calibri" pitchFamily="34" charset="-120"/>
              </a:rPr>
              <a:t>No Single View of Business Performance</a:t>
            </a:r>
            <a:endParaRPr lang="en-US" sz="1400" dirty="0"/>
          </a:p>
        </p:txBody>
      </p:sp>
      <p:sp>
        <p:nvSpPr>
          <p:cNvPr id="8" name="Text 5"/>
          <p:cNvSpPr txBox="1"/>
          <p:nvPr/>
        </p:nvSpPr>
        <p:spPr>
          <a:xfrm>
            <a:off x="2057400" y="1874520"/>
            <a:ext cx="4846320" cy="1051560"/>
          </a:xfrm>
          <a:prstGeom prst="rect">
            <a:avLst/>
          </a:prstGeom>
          <a:noFill/>
          <a:ln/>
        </p:spPr>
        <p:txBody>
          <a:bodyPr wrap="square" lIns="0" tIns="0" rIns="0" bIns="0" rtlCol="0" anchor="t"/>
          <a:lstStyle/>
          <a:p>
            <a:pPr indent="0" marL="0">
              <a:buNone/>
            </a:pPr>
            <a:r>
              <a:rPr lang="en-US" sz="1400" dirty="0">
                <a:solidFill>
                  <a:srgbClr val="6B5E7A"/>
                </a:solidFill>
                <a:latin typeface="Calibri" pitchFamily="34" charset="0"/>
                <a:ea typeface="Calibri" pitchFamily="34" charset="-122"/>
                <a:cs typeface="Calibri" pitchFamily="34" charset="-120"/>
              </a:rPr>
              <a:t>Data sits in separate datasets, so management cannot see what drives profit. High sales alone do not mean strong performance — discounts, costs and returns erode margin.</a:t>
            </a:r>
            <a:endParaRPr lang="en-US" sz="1400" dirty="0"/>
          </a:p>
        </p:txBody>
      </p:sp>
      <p:sp>
        <p:nvSpPr>
          <p:cNvPr id="9" name="Shape 6"/>
          <p:cNvSpPr/>
          <p:nvPr/>
        </p:nvSpPr>
        <p:spPr>
          <a:xfrm>
            <a:off x="548640" y="3246120"/>
            <a:ext cx="6583680" cy="1417320"/>
          </a:xfrm>
          <a:prstGeom prst="roundRect">
            <a:avLst>
              <a:gd name="adj" fmla="val 6452"/>
            </a:avLst>
          </a:prstGeom>
          <a:solidFill>
            <a:srgbClr val="FFFFFF"/>
          </a:solidFill>
          <a:ln w="12700">
            <a:solidFill>
              <a:srgbClr val="E4DBEE"/>
            </a:solidFill>
            <a:prstDash val="solid"/>
          </a:ln>
          <a:effectLst>
            <a:outerShdw sx="100000" sy="100000" kx="0" ky="0" algn="bl" rotWithShape="0" blurRad="76200" dist="25400" dir="5400000">
              <a:srgbClr val="9B8AAE">
                <a:alpha val="25000"/>
              </a:srgbClr>
            </a:outerShdw>
          </a:effectLst>
        </p:spPr>
      </p:sp>
      <p:sp>
        <p:nvSpPr>
          <p:cNvPr id="10" name="Text 7"/>
          <p:cNvSpPr txBox="1"/>
          <p:nvPr/>
        </p:nvSpPr>
        <p:spPr>
          <a:xfrm>
            <a:off x="868680" y="3383280"/>
            <a:ext cx="5943600" cy="1143000"/>
          </a:xfrm>
          <a:prstGeom prst="rect">
            <a:avLst/>
          </a:prstGeom>
          <a:noFill/>
          <a:ln/>
        </p:spPr>
        <p:txBody>
          <a:bodyPr wrap="square" lIns="0" tIns="0" rIns="0" bIns="0" rtlCol="0" anchor="ctr"/>
          <a:lstStyle/>
          <a:p>
            <a:pPr indent="0" marL="0">
              <a:buNone/>
            </a:pPr>
            <a:r>
              <a:rPr lang="en-US" sz="1400" b="1" i="1" dirty="0">
                <a:solidFill>
                  <a:srgbClr val="4B2B6E"/>
                </a:solidFill>
                <a:latin typeface="Calibri" pitchFamily="34" charset="0"/>
                <a:ea typeface="Calibri" pitchFamily="34" charset="-122"/>
                <a:cs typeface="Calibri" pitchFamily="34" charset="-120"/>
              </a:rPr>
              <a:t>“Which stores, products, customer segments and sales channels are driving profitable growth — and which areas need management attention?”</a:t>
            </a:r>
            <a:endParaRPr lang="en-US" sz="1400" dirty="0"/>
          </a:p>
        </p:txBody>
      </p:sp>
      <p:sp>
        <p:nvSpPr>
          <p:cNvPr id="11" name="Text 8"/>
          <p:cNvSpPr txBox="1"/>
          <p:nvPr/>
        </p:nvSpPr>
        <p:spPr>
          <a:xfrm>
            <a:off x="7360920" y="1325880"/>
            <a:ext cx="4251960" cy="365760"/>
          </a:xfrm>
          <a:prstGeom prst="rect">
            <a:avLst/>
          </a:prstGeom>
          <a:noFill/>
          <a:ln/>
        </p:spPr>
        <p:txBody>
          <a:bodyPr wrap="square" lIns="0" tIns="0" rIns="0" bIns="0" rtlCol="0" anchor="ctr"/>
          <a:lstStyle/>
          <a:p>
            <a:pPr indent="0" marL="0">
              <a:buNone/>
            </a:pPr>
            <a:r>
              <a:rPr lang="en-US" sz="1400" b="1" dirty="0">
                <a:solidFill>
                  <a:srgbClr val="4B2B6E"/>
                </a:solidFill>
                <a:latin typeface="Calibri" pitchFamily="34" charset="0"/>
                <a:ea typeface="Calibri" pitchFamily="34" charset="-122"/>
                <a:cs typeface="Calibri" pitchFamily="34" charset="-120"/>
              </a:rPr>
              <a:t>Areas Investigated</a:t>
            </a:r>
            <a:endParaRPr lang="en-US" sz="1400" dirty="0"/>
          </a:p>
        </p:txBody>
      </p:sp>
      <p:sp>
        <p:nvSpPr>
          <p:cNvPr id="12" name="Shape 9"/>
          <p:cNvSpPr/>
          <p:nvPr/>
        </p:nvSpPr>
        <p:spPr>
          <a:xfrm>
            <a:off x="7360920" y="1783080"/>
            <a:ext cx="402336" cy="402336"/>
          </a:xfrm>
          <a:prstGeom prst="ellipse">
            <a:avLst/>
          </a:prstGeom>
          <a:solidFill>
            <a:srgbClr val="27AE60"/>
          </a:solidFill>
          <a:ln/>
        </p:spPr>
      </p:sp>
      <p:pic>
        <p:nvPicPr>
          <p:cNvPr id="13" name="Image 1" descr="icons/chart.png">    </p:cNvPr>
          <p:cNvPicPr>
            <a:picLocks noChangeAspect="1"/>
          </p:cNvPicPr>
          <p:nvPr/>
        </p:nvPicPr>
        <p:blipFill>
          <a:blip r:embed="rId2"/>
          <a:stretch>
            <a:fillRect/>
          </a:stretch>
        </p:blipFill>
        <p:spPr>
          <a:xfrm>
            <a:off x="7451446" y="1873606"/>
            <a:ext cx="221285" cy="221285"/>
          </a:xfrm>
          <a:prstGeom prst="rect">
            <a:avLst/>
          </a:prstGeom>
        </p:spPr>
      </p:pic>
      <p:sp>
        <p:nvSpPr>
          <p:cNvPr id="14" name="Text 10"/>
          <p:cNvSpPr txBox="1"/>
          <p:nvPr/>
        </p:nvSpPr>
        <p:spPr>
          <a:xfrm>
            <a:off x="7909560" y="1783080"/>
            <a:ext cx="3657600" cy="402336"/>
          </a:xfrm>
          <a:prstGeom prst="rect">
            <a:avLst/>
          </a:prstGeom>
          <a:noFill/>
          <a:ln/>
        </p:spPr>
        <p:txBody>
          <a:bodyPr wrap="square" lIns="0" tIns="0" rIns="0" bIns="0" rtlCol="0" anchor="ctr"/>
          <a:lstStyle/>
          <a:p>
            <a:pPr indent="0" marL="0">
              <a:buNone/>
            </a:pPr>
            <a:r>
              <a:rPr lang="en-US" sz="1400" dirty="0">
                <a:solidFill>
                  <a:srgbClr val="2E1F3D"/>
                </a:solidFill>
                <a:latin typeface="Calibri" pitchFamily="34" charset="0"/>
                <a:ea typeface="Calibri" pitchFamily="34" charset="-122"/>
                <a:cs typeface="Calibri" pitchFamily="34" charset="-120"/>
              </a:rPr>
              <a:t>Monthly Sales Trend</a:t>
            </a:r>
            <a:endParaRPr lang="en-US" sz="1400" dirty="0"/>
          </a:p>
        </p:txBody>
      </p:sp>
      <p:sp>
        <p:nvSpPr>
          <p:cNvPr id="15" name="Shape 11"/>
          <p:cNvSpPr/>
          <p:nvPr/>
        </p:nvSpPr>
        <p:spPr>
          <a:xfrm>
            <a:off x="7360920" y="2272284"/>
            <a:ext cx="402336" cy="402336"/>
          </a:xfrm>
          <a:prstGeom prst="ellipse">
            <a:avLst/>
          </a:prstGeom>
          <a:solidFill>
            <a:srgbClr val="27AE60"/>
          </a:solidFill>
          <a:ln/>
        </p:spPr>
      </p:sp>
      <p:pic>
        <p:nvPicPr>
          <p:cNvPr id="16" name="Image 2" descr="icons/crown.png">    </p:cNvPr>
          <p:cNvPicPr>
            <a:picLocks noChangeAspect="1"/>
          </p:cNvPicPr>
          <p:nvPr/>
        </p:nvPicPr>
        <p:blipFill>
          <a:blip r:embed="rId3"/>
          <a:stretch>
            <a:fillRect/>
          </a:stretch>
        </p:blipFill>
        <p:spPr>
          <a:xfrm>
            <a:off x="7451446" y="2362810"/>
            <a:ext cx="221285" cy="221285"/>
          </a:xfrm>
          <a:prstGeom prst="rect">
            <a:avLst/>
          </a:prstGeom>
        </p:spPr>
      </p:pic>
      <p:sp>
        <p:nvSpPr>
          <p:cNvPr id="17" name="Text 12"/>
          <p:cNvSpPr txBox="1"/>
          <p:nvPr/>
        </p:nvSpPr>
        <p:spPr>
          <a:xfrm>
            <a:off x="7909560" y="2272284"/>
            <a:ext cx="3657600" cy="402336"/>
          </a:xfrm>
          <a:prstGeom prst="rect">
            <a:avLst/>
          </a:prstGeom>
          <a:noFill/>
          <a:ln/>
        </p:spPr>
        <p:txBody>
          <a:bodyPr wrap="square" lIns="0" tIns="0" rIns="0" bIns="0" rtlCol="0" anchor="ctr"/>
          <a:lstStyle/>
          <a:p>
            <a:pPr indent="0" marL="0">
              <a:buNone/>
            </a:pPr>
            <a:r>
              <a:rPr lang="en-US" sz="1400" dirty="0">
                <a:solidFill>
                  <a:srgbClr val="2E1F3D"/>
                </a:solidFill>
                <a:latin typeface="Calibri" pitchFamily="34" charset="0"/>
                <a:ea typeface="Calibri" pitchFamily="34" charset="-122"/>
                <a:cs typeface="Calibri" pitchFamily="34" charset="-120"/>
              </a:rPr>
              <a:t>Membership Performance</a:t>
            </a:r>
            <a:endParaRPr lang="en-US" sz="1400" dirty="0"/>
          </a:p>
        </p:txBody>
      </p:sp>
      <p:sp>
        <p:nvSpPr>
          <p:cNvPr id="18" name="Shape 13"/>
          <p:cNvSpPr/>
          <p:nvPr/>
        </p:nvSpPr>
        <p:spPr>
          <a:xfrm>
            <a:off x="7360920" y="2761488"/>
            <a:ext cx="402336" cy="402336"/>
          </a:xfrm>
          <a:prstGeom prst="ellipse">
            <a:avLst/>
          </a:prstGeom>
          <a:solidFill>
            <a:srgbClr val="27AE60"/>
          </a:solidFill>
          <a:ln/>
        </p:spPr>
      </p:sp>
      <p:pic>
        <p:nvPicPr>
          <p:cNvPr id="19" name="Image 3" descr="icons/store.png">    </p:cNvPr>
          <p:cNvPicPr>
            <a:picLocks noChangeAspect="1"/>
          </p:cNvPicPr>
          <p:nvPr/>
        </p:nvPicPr>
        <p:blipFill>
          <a:blip r:embed="rId4"/>
          <a:stretch>
            <a:fillRect/>
          </a:stretch>
        </p:blipFill>
        <p:spPr>
          <a:xfrm>
            <a:off x="7451446" y="2852014"/>
            <a:ext cx="221285" cy="221285"/>
          </a:xfrm>
          <a:prstGeom prst="rect">
            <a:avLst/>
          </a:prstGeom>
        </p:spPr>
      </p:pic>
      <p:sp>
        <p:nvSpPr>
          <p:cNvPr id="20" name="Text 14"/>
          <p:cNvSpPr txBox="1"/>
          <p:nvPr/>
        </p:nvSpPr>
        <p:spPr>
          <a:xfrm>
            <a:off x="7909560" y="2761488"/>
            <a:ext cx="3657600" cy="402336"/>
          </a:xfrm>
          <a:prstGeom prst="rect">
            <a:avLst/>
          </a:prstGeom>
          <a:noFill/>
          <a:ln/>
        </p:spPr>
        <p:txBody>
          <a:bodyPr wrap="square" lIns="0" tIns="0" rIns="0" bIns="0" rtlCol="0" anchor="ctr"/>
          <a:lstStyle/>
          <a:p>
            <a:pPr indent="0" marL="0">
              <a:buNone/>
            </a:pPr>
            <a:r>
              <a:rPr lang="en-US" sz="1400" dirty="0">
                <a:solidFill>
                  <a:srgbClr val="2E1F3D"/>
                </a:solidFill>
                <a:latin typeface="Calibri" pitchFamily="34" charset="0"/>
                <a:ea typeface="Calibri" pitchFamily="34" charset="-122"/>
                <a:cs typeface="Calibri" pitchFamily="34" charset="-120"/>
              </a:rPr>
              <a:t>Sales Channel Split</a:t>
            </a:r>
            <a:endParaRPr lang="en-US" sz="1400" dirty="0"/>
          </a:p>
        </p:txBody>
      </p:sp>
      <p:sp>
        <p:nvSpPr>
          <p:cNvPr id="21" name="Shape 15"/>
          <p:cNvSpPr/>
          <p:nvPr/>
        </p:nvSpPr>
        <p:spPr>
          <a:xfrm>
            <a:off x="7360920" y="3250692"/>
            <a:ext cx="402336" cy="402336"/>
          </a:xfrm>
          <a:prstGeom prst="ellipse">
            <a:avLst/>
          </a:prstGeom>
          <a:solidFill>
            <a:srgbClr val="27AE60"/>
          </a:solidFill>
          <a:ln/>
        </p:spPr>
      </p:sp>
      <p:pic>
        <p:nvPicPr>
          <p:cNvPr id="22" name="Image 4" descr="icons/box.png">    </p:cNvPr>
          <p:cNvPicPr>
            <a:picLocks noChangeAspect="1"/>
          </p:cNvPicPr>
          <p:nvPr/>
        </p:nvPicPr>
        <p:blipFill>
          <a:blip r:embed="rId5"/>
          <a:stretch>
            <a:fillRect/>
          </a:stretch>
        </p:blipFill>
        <p:spPr>
          <a:xfrm>
            <a:off x="7451446" y="3341218"/>
            <a:ext cx="221285" cy="221285"/>
          </a:xfrm>
          <a:prstGeom prst="rect">
            <a:avLst/>
          </a:prstGeom>
        </p:spPr>
      </p:pic>
      <p:sp>
        <p:nvSpPr>
          <p:cNvPr id="23" name="Text 16"/>
          <p:cNvSpPr txBox="1"/>
          <p:nvPr/>
        </p:nvSpPr>
        <p:spPr>
          <a:xfrm>
            <a:off x="7909560" y="3250692"/>
            <a:ext cx="3657600" cy="402336"/>
          </a:xfrm>
          <a:prstGeom prst="rect">
            <a:avLst/>
          </a:prstGeom>
          <a:noFill/>
          <a:ln/>
        </p:spPr>
        <p:txBody>
          <a:bodyPr wrap="square" lIns="0" tIns="0" rIns="0" bIns="0" rtlCol="0" anchor="ctr"/>
          <a:lstStyle/>
          <a:p>
            <a:pPr indent="0" marL="0">
              <a:buNone/>
            </a:pPr>
            <a:r>
              <a:rPr lang="en-US" sz="1400" dirty="0">
                <a:solidFill>
                  <a:srgbClr val="2E1F3D"/>
                </a:solidFill>
                <a:latin typeface="Calibri" pitchFamily="34" charset="0"/>
                <a:ea typeface="Calibri" pitchFamily="34" charset="-122"/>
                <a:cs typeface="Calibri" pitchFamily="34" charset="-120"/>
              </a:rPr>
              <a:t>Category Performance</a:t>
            </a:r>
            <a:endParaRPr lang="en-US" sz="1400" dirty="0"/>
          </a:p>
        </p:txBody>
      </p:sp>
      <p:sp>
        <p:nvSpPr>
          <p:cNvPr id="24" name="Shape 17"/>
          <p:cNvSpPr/>
          <p:nvPr/>
        </p:nvSpPr>
        <p:spPr>
          <a:xfrm>
            <a:off x="7360920" y="3739896"/>
            <a:ext cx="402336" cy="402336"/>
          </a:xfrm>
          <a:prstGeom prst="ellipse">
            <a:avLst/>
          </a:prstGeom>
          <a:solidFill>
            <a:srgbClr val="27AE60"/>
          </a:solidFill>
          <a:ln/>
        </p:spPr>
      </p:sp>
      <p:pic>
        <p:nvPicPr>
          <p:cNvPr id="25" name="Image 5" descr="icons/calendarweek.png">    </p:cNvPr>
          <p:cNvPicPr>
            <a:picLocks noChangeAspect="1"/>
          </p:cNvPicPr>
          <p:nvPr/>
        </p:nvPicPr>
        <p:blipFill>
          <a:blip r:embed="rId6"/>
          <a:stretch>
            <a:fillRect/>
          </a:stretch>
        </p:blipFill>
        <p:spPr>
          <a:xfrm>
            <a:off x="7451446" y="3830422"/>
            <a:ext cx="221285" cy="221285"/>
          </a:xfrm>
          <a:prstGeom prst="rect">
            <a:avLst/>
          </a:prstGeom>
        </p:spPr>
      </p:pic>
      <p:sp>
        <p:nvSpPr>
          <p:cNvPr id="26" name="Text 18"/>
          <p:cNvSpPr txBox="1"/>
          <p:nvPr/>
        </p:nvSpPr>
        <p:spPr>
          <a:xfrm>
            <a:off x="7909560" y="3739896"/>
            <a:ext cx="3657600" cy="402336"/>
          </a:xfrm>
          <a:prstGeom prst="rect">
            <a:avLst/>
          </a:prstGeom>
          <a:noFill/>
          <a:ln/>
        </p:spPr>
        <p:txBody>
          <a:bodyPr wrap="square" lIns="0" tIns="0" rIns="0" bIns="0" rtlCol="0" anchor="ctr"/>
          <a:lstStyle/>
          <a:p>
            <a:pPr indent="0" marL="0">
              <a:buNone/>
            </a:pPr>
            <a:r>
              <a:rPr lang="en-US" sz="1400" dirty="0">
                <a:solidFill>
                  <a:srgbClr val="2E1F3D"/>
                </a:solidFill>
                <a:latin typeface="Calibri" pitchFamily="34" charset="0"/>
                <a:ea typeface="Calibri" pitchFamily="34" charset="-122"/>
                <a:cs typeface="Calibri" pitchFamily="34" charset="-120"/>
              </a:rPr>
              <a:t>Weekday vs Weekend</a:t>
            </a:r>
            <a:endParaRPr lang="en-US" sz="1400" dirty="0"/>
          </a:p>
        </p:txBody>
      </p:sp>
      <p:sp>
        <p:nvSpPr>
          <p:cNvPr id="27" name="Shape 19"/>
          <p:cNvSpPr/>
          <p:nvPr/>
        </p:nvSpPr>
        <p:spPr>
          <a:xfrm>
            <a:off x="7360920" y="4229100"/>
            <a:ext cx="402336" cy="402336"/>
          </a:xfrm>
          <a:prstGeom prst="ellipse">
            <a:avLst/>
          </a:prstGeom>
          <a:solidFill>
            <a:srgbClr val="27AE60"/>
          </a:solidFill>
          <a:ln/>
        </p:spPr>
      </p:sp>
      <p:pic>
        <p:nvPicPr>
          <p:cNvPr id="28" name="Image 6" descr="icons/map.png">    </p:cNvPr>
          <p:cNvPicPr>
            <a:picLocks noChangeAspect="1"/>
          </p:cNvPicPr>
          <p:nvPr/>
        </p:nvPicPr>
        <p:blipFill>
          <a:blip r:embed="rId7"/>
          <a:stretch>
            <a:fillRect/>
          </a:stretch>
        </p:blipFill>
        <p:spPr>
          <a:xfrm>
            <a:off x="7451446" y="4319626"/>
            <a:ext cx="221285" cy="221285"/>
          </a:xfrm>
          <a:prstGeom prst="rect">
            <a:avLst/>
          </a:prstGeom>
        </p:spPr>
      </p:pic>
      <p:sp>
        <p:nvSpPr>
          <p:cNvPr id="29" name="Text 20"/>
          <p:cNvSpPr txBox="1"/>
          <p:nvPr/>
        </p:nvSpPr>
        <p:spPr>
          <a:xfrm>
            <a:off x="7909560" y="4229100"/>
            <a:ext cx="3657600" cy="402336"/>
          </a:xfrm>
          <a:prstGeom prst="rect">
            <a:avLst/>
          </a:prstGeom>
          <a:noFill/>
          <a:ln/>
        </p:spPr>
        <p:txBody>
          <a:bodyPr wrap="square" lIns="0" tIns="0" rIns="0" bIns="0" rtlCol="0" anchor="ctr"/>
          <a:lstStyle/>
          <a:p>
            <a:pPr indent="0" marL="0">
              <a:buNone/>
            </a:pPr>
            <a:r>
              <a:rPr lang="en-US" sz="1400" dirty="0">
                <a:solidFill>
                  <a:srgbClr val="2E1F3D"/>
                </a:solidFill>
                <a:latin typeface="Calibri" pitchFamily="34" charset="0"/>
                <a:ea typeface="Calibri" pitchFamily="34" charset="-122"/>
                <a:cs typeface="Calibri" pitchFamily="34" charset="-120"/>
              </a:rPr>
              <a:t>Regional Sales</a:t>
            </a:r>
            <a:endParaRPr lang="en-US" sz="1400" dirty="0"/>
          </a:p>
        </p:txBody>
      </p:sp>
      <p:sp>
        <p:nvSpPr>
          <p:cNvPr id="30" name="Shape 21"/>
          <p:cNvSpPr/>
          <p:nvPr/>
        </p:nvSpPr>
        <p:spPr>
          <a:xfrm>
            <a:off x="548640" y="4937760"/>
            <a:ext cx="2212848" cy="1188720"/>
          </a:xfrm>
          <a:prstGeom prst="roundRect">
            <a:avLst>
              <a:gd name="adj" fmla="val 7692"/>
            </a:avLst>
          </a:prstGeom>
          <a:solidFill>
            <a:srgbClr val="FFFFFF"/>
          </a:solidFill>
          <a:ln w="12700">
            <a:solidFill>
              <a:srgbClr val="E4DBEE"/>
            </a:solidFill>
            <a:prstDash val="solid"/>
          </a:ln>
          <a:effectLst>
            <a:outerShdw sx="100000" sy="100000" kx="0" ky="0" algn="bl" rotWithShape="0" blurRad="76200" dist="25400" dir="5400000">
              <a:srgbClr val="9B8AAE">
                <a:alpha val="25000"/>
              </a:srgbClr>
            </a:outerShdw>
          </a:effectLst>
        </p:spPr>
      </p:sp>
      <p:sp>
        <p:nvSpPr>
          <p:cNvPr id="31" name="Text 22"/>
          <p:cNvSpPr txBox="1"/>
          <p:nvPr/>
        </p:nvSpPr>
        <p:spPr>
          <a:xfrm>
            <a:off x="548640" y="5074920"/>
            <a:ext cx="2212848" cy="411480"/>
          </a:xfrm>
          <a:prstGeom prst="rect">
            <a:avLst/>
          </a:prstGeom>
          <a:noFill/>
          <a:ln/>
        </p:spPr>
        <p:txBody>
          <a:bodyPr wrap="square" lIns="0" tIns="0" rIns="0" bIns="0" rtlCol="0" anchor="ctr"/>
          <a:lstStyle/>
          <a:p>
            <a:pPr algn="ctr" indent="0" marL="0">
              <a:buNone/>
            </a:pPr>
            <a:r>
              <a:rPr lang="en-US" sz="1400" b="1" dirty="0">
                <a:solidFill>
                  <a:srgbClr val="4B2B6E"/>
                </a:solidFill>
                <a:latin typeface="Calibri" pitchFamily="34" charset="0"/>
                <a:ea typeface="Calibri" pitchFamily="34" charset="-122"/>
                <a:cs typeface="Calibri" pitchFamily="34" charset="-120"/>
              </a:rPr>
              <a:t>₹28.95L</a:t>
            </a:r>
            <a:endParaRPr lang="en-US" sz="1400" dirty="0"/>
          </a:p>
        </p:txBody>
      </p:sp>
      <p:sp>
        <p:nvSpPr>
          <p:cNvPr id="32" name="Text 23"/>
          <p:cNvSpPr txBox="1"/>
          <p:nvPr/>
        </p:nvSpPr>
        <p:spPr>
          <a:xfrm>
            <a:off x="548640" y="5532120"/>
            <a:ext cx="2212848" cy="411480"/>
          </a:xfrm>
          <a:prstGeom prst="rect">
            <a:avLst/>
          </a:prstGeom>
          <a:noFill/>
          <a:ln/>
        </p:spPr>
        <p:txBody>
          <a:bodyPr wrap="square" lIns="0" tIns="0" rIns="0" bIns="0" rtlCol="0" anchor="ctr"/>
          <a:lstStyle/>
          <a:p>
            <a:pPr algn="ctr" indent="0" marL="0">
              <a:buNone/>
            </a:pPr>
            <a:r>
              <a:rPr lang="en-US" sz="1400" dirty="0">
                <a:solidFill>
                  <a:srgbClr val="6B5E7A"/>
                </a:solidFill>
                <a:latin typeface="Calibri" pitchFamily="34" charset="0"/>
                <a:ea typeface="Calibri" pitchFamily="34" charset="-122"/>
                <a:cs typeface="Calibri" pitchFamily="34" charset="-120"/>
              </a:rPr>
              <a:t>Total Sales</a:t>
            </a:r>
            <a:endParaRPr lang="en-US" sz="1400" dirty="0"/>
          </a:p>
        </p:txBody>
      </p:sp>
      <p:sp>
        <p:nvSpPr>
          <p:cNvPr id="33" name="Shape 24"/>
          <p:cNvSpPr/>
          <p:nvPr/>
        </p:nvSpPr>
        <p:spPr>
          <a:xfrm>
            <a:off x="2871216" y="4937760"/>
            <a:ext cx="2212848" cy="1188720"/>
          </a:xfrm>
          <a:prstGeom prst="roundRect">
            <a:avLst>
              <a:gd name="adj" fmla="val 7692"/>
            </a:avLst>
          </a:prstGeom>
          <a:solidFill>
            <a:srgbClr val="FFFFFF"/>
          </a:solidFill>
          <a:ln w="12700">
            <a:solidFill>
              <a:srgbClr val="E4DBEE"/>
            </a:solidFill>
            <a:prstDash val="solid"/>
          </a:ln>
          <a:effectLst>
            <a:outerShdw sx="100000" sy="100000" kx="0" ky="0" algn="bl" rotWithShape="0" blurRad="76200" dist="25400" dir="5400000">
              <a:srgbClr val="9B8AAE">
                <a:alpha val="25000"/>
              </a:srgbClr>
            </a:outerShdw>
          </a:effectLst>
        </p:spPr>
      </p:sp>
      <p:sp>
        <p:nvSpPr>
          <p:cNvPr id="34" name="Text 25"/>
          <p:cNvSpPr txBox="1"/>
          <p:nvPr/>
        </p:nvSpPr>
        <p:spPr>
          <a:xfrm>
            <a:off x="2871216" y="5074920"/>
            <a:ext cx="2212848" cy="411480"/>
          </a:xfrm>
          <a:prstGeom prst="rect">
            <a:avLst/>
          </a:prstGeom>
          <a:noFill/>
          <a:ln/>
        </p:spPr>
        <p:txBody>
          <a:bodyPr wrap="square" lIns="0" tIns="0" rIns="0" bIns="0" rtlCol="0" anchor="ctr"/>
          <a:lstStyle/>
          <a:p>
            <a:pPr algn="ctr" indent="0" marL="0">
              <a:buNone/>
            </a:pPr>
            <a:r>
              <a:rPr lang="en-US" sz="1400" b="1" dirty="0">
                <a:solidFill>
                  <a:srgbClr val="4B2B6E"/>
                </a:solidFill>
                <a:latin typeface="Calibri" pitchFamily="34" charset="0"/>
                <a:ea typeface="Calibri" pitchFamily="34" charset="-122"/>
                <a:cs typeface="Calibri" pitchFamily="34" charset="-120"/>
              </a:rPr>
              <a:t>₹7.37L</a:t>
            </a:r>
            <a:endParaRPr lang="en-US" sz="1400" dirty="0"/>
          </a:p>
        </p:txBody>
      </p:sp>
      <p:sp>
        <p:nvSpPr>
          <p:cNvPr id="35" name="Text 26"/>
          <p:cNvSpPr txBox="1"/>
          <p:nvPr/>
        </p:nvSpPr>
        <p:spPr>
          <a:xfrm>
            <a:off x="2871216" y="5532120"/>
            <a:ext cx="2212848" cy="411480"/>
          </a:xfrm>
          <a:prstGeom prst="rect">
            <a:avLst/>
          </a:prstGeom>
          <a:noFill/>
          <a:ln/>
        </p:spPr>
        <p:txBody>
          <a:bodyPr wrap="square" lIns="0" tIns="0" rIns="0" bIns="0" rtlCol="0" anchor="ctr"/>
          <a:lstStyle/>
          <a:p>
            <a:pPr algn="ctr" indent="0" marL="0">
              <a:buNone/>
            </a:pPr>
            <a:r>
              <a:rPr lang="en-US" sz="1400" dirty="0">
                <a:solidFill>
                  <a:srgbClr val="6B5E7A"/>
                </a:solidFill>
                <a:latin typeface="Calibri" pitchFamily="34" charset="0"/>
                <a:ea typeface="Calibri" pitchFamily="34" charset="-122"/>
                <a:cs typeface="Calibri" pitchFamily="34" charset="-120"/>
              </a:rPr>
              <a:t>Total Profit</a:t>
            </a:r>
            <a:endParaRPr lang="en-US" sz="1400" dirty="0"/>
          </a:p>
        </p:txBody>
      </p:sp>
      <p:sp>
        <p:nvSpPr>
          <p:cNvPr id="36" name="Shape 27"/>
          <p:cNvSpPr/>
          <p:nvPr/>
        </p:nvSpPr>
        <p:spPr>
          <a:xfrm>
            <a:off x="5193792" y="4937760"/>
            <a:ext cx="2212848" cy="1188720"/>
          </a:xfrm>
          <a:prstGeom prst="roundRect">
            <a:avLst>
              <a:gd name="adj" fmla="val 7692"/>
            </a:avLst>
          </a:prstGeom>
          <a:solidFill>
            <a:srgbClr val="FFFFFF"/>
          </a:solidFill>
          <a:ln w="12700">
            <a:solidFill>
              <a:srgbClr val="E4DBEE"/>
            </a:solidFill>
            <a:prstDash val="solid"/>
          </a:ln>
          <a:effectLst>
            <a:outerShdw sx="100000" sy="100000" kx="0" ky="0" algn="bl" rotWithShape="0" blurRad="76200" dist="25400" dir="5400000">
              <a:srgbClr val="9B8AAE">
                <a:alpha val="25000"/>
              </a:srgbClr>
            </a:outerShdw>
          </a:effectLst>
        </p:spPr>
      </p:sp>
      <p:sp>
        <p:nvSpPr>
          <p:cNvPr id="37" name="Text 28"/>
          <p:cNvSpPr txBox="1"/>
          <p:nvPr/>
        </p:nvSpPr>
        <p:spPr>
          <a:xfrm>
            <a:off x="5193792" y="5074920"/>
            <a:ext cx="2212848" cy="411480"/>
          </a:xfrm>
          <a:prstGeom prst="rect">
            <a:avLst/>
          </a:prstGeom>
          <a:noFill/>
          <a:ln/>
        </p:spPr>
        <p:txBody>
          <a:bodyPr wrap="square" lIns="0" tIns="0" rIns="0" bIns="0" rtlCol="0" anchor="ctr"/>
          <a:lstStyle/>
          <a:p>
            <a:pPr algn="ctr" indent="0" marL="0">
              <a:buNone/>
            </a:pPr>
            <a:r>
              <a:rPr lang="en-US" sz="1400" b="1" dirty="0">
                <a:solidFill>
                  <a:srgbClr val="4B2B6E"/>
                </a:solidFill>
                <a:latin typeface="Calibri" pitchFamily="34" charset="0"/>
                <a:ea typeface="Calibri" pitchFamily="34" charset="-122"/>
                <a:cs typeface="Calibri" pitchFamily="34" charset="-120"/>
              </a:rPr>
              <a:t>25.47%</a:t>
            </a:r>
            <a:endParaRPr lang="en-US" sz="1400" dirty="0"/>
          </a:p>
        </p:txBody>
      </p:sp>
      <p:sp>
        <p:nvSpPr>
          <p:cNvPr id="38" name="Text 29"/>
          <p:cNvSpPr txBox="1"/>
          <p:nvPr/>
        </p:nvSpPr>
        <p:spPr>
          <a:xfrm>
            <a:off x="5193792" y="5532120"/>
            <a:ext cx="2212848" cy="411480"/>
          </a:xfrm>
          <a:prstGeom prst="rect">
            <a:avLst/>
          </a:prstGeom>
          <a:noFill/>
          <a:ln/>
        </p:spPr>
        <p:txBody>
          <a:bodyPr wrap="square" lIns="0" tIns="0" rIns="0" bIns="0" rtlCol="0" anchor="ctr"/>
          <a:lstStyle/>
          <a:p>
            <a:pPr algn="ctr" indent="0" marL="0">
              <a:buNone/>
            </a:pPr>
            <a:r>
              <a:rPr lang="en-US" sz="1400" dirty="0">
                <a:solidFill>
                  <a:srgbClr val="6B5E7A"/>
                </a:solidFill>
                <a:latin typeface="Calibri" pitchFamily="34" charset="0"/>
                <a:ea typeface="Calibri" pitchFamily="34" charset="-122"/>
                <a:cs typeface="Calibri" pitchFamily="34" charset="-120"/>
              </a:rPr>
              <a:t>Profit Margin</a:t>
            </a:r>
            <a:endParaRPr lang="en-US" sz="1400" dirty="0"/>
          </a:p>
        </p:txBody>
      </p:sp>
      <p:sp>
        <p:nvSpPr>
          <p:cNvPr id="39" name="Shape 30"/>
          <p:cNvSpPr/>
          <p:nvPr/>
        </p:nvSpPr>
        <p:spPr>
          <a:xfrm>
            <a:off x="7516368" y="4937760"/>
            <a:ext cx="2212848" cy="1188720"/>
          </a:xfrm>
          <a:prstGeom prst="roundRect">
            <a:avLst>
              <a:gd name="adj" fmla="val 7692"/>
            </a:avLst>
          </a:prstGeom>
          <a:solidFill>
            <a:srgbClr val="FFFFFF"/>
          </a:solidFill>
          <a:ln w="12700">
            <a:solidFill>
              <a:srgbClr val="E4DBEE"/>
            </a:solidFill>
            <a:prstDash val="solid"/>
          </a:ln>
          <a:effectLst>
            <a:outerShdw sx="100000" sy="100000" kx="0" ky="0" algn="bl" rotWithShape="0" blurRad="76200" dist="25400" dir="5400000">
              <a:srgbClr val="9B8AAE">
                <a:alpha val="25000"/>
              </a:srgbClr>
            </a:outerShdw>
          </a:effectLst>
        </p:spPr>
      </p:sp>
      <p:sp>
        <p:nvSpPr>
          <p:cNvPr id="40" name="Text 31"/>
          <p:cNvSpPr txBox="1"/>
          <p:nvPr/>
        </p:nvSpPr>
        <p:spPr>
          <a:xfrm>
            <a:off x="7516368" y="5074920"/>
            <a:ext cx="2212848" cy="411480"/>
          </a:xfrm>
          <a:prstGeom prst="rect">
            <a:avLst/>
          </a:prstGeom>
          <a:noFill/>
          <a:ln/>
        </p:spPr>
        <p:txBody>
          <a:bodyPr wrap="square" lIns="0" tIns="0" rIns="0" bIns="0" rtlCol="0" anchor="ctr"/>
          <a:lstStyle/>
          <a:p>
            <a:pPr algn="ctr" indent="0" marL="0">
              <a:buNone/>
            </a:pPr>
            <a:r>
              <a:rPr lang="en-US" sz="1400" b="1" dirty="0">
                <a:solidFill>
                  <a:srgbClr val="4B2B6E"/>
                </a:solidFill>
                <a:latin typeface="Calibri" pitchFamily="34" charset="0"/>
                <a:ea typeface="Calibri" pitchFamily="34" charset="-122"/>
                <a:cs typeface="Calibri" pitchFamily="34" charset="-120"/>
              </a:rPr>
              <a:t>2,500</a:t>
            </a:r>
            <a:endParaRPr lang="en-US" sz="1400" dirty="0"/>
          </a:p>
        </p:txBody>
      </p:sp>
      <p:sp>
        <p:nvSpPr>
          <p:cNvPr id="41" name="Text 32"/>
          <p:cNvSpPr txBox="1"/>
          <p:nvPr/>
        </p:nvSpPr>
        <p:spPr>
          <a:xfrm>
            <a:off x="7516368" y="5532120"/>
            <a:ext cx="2212848" cy="411480"/>
          </a:xfrm>
          <a:prstGeom prst="rect">
            <a:avLst/>
          </a:prstGeom>
          <a:noFill/>
          <a:ln/>
        </p:spPr>
        <p:txBody>
          <a:bodyPr wrap="square" lIns="0" tIns="0" rIns="0" bIns="0" rtlCol="0" anchor="ctr"/>
          <a:lstStyle/>
          <a:p>
            <a:pPr algn="ctr" indent="0" marL="0">
              <a:buNone/>
            </a:pPr>
            <a:r>
              <a:rPr lang="en-US" sz="1400" dirty="0">
                <a:solidFill>
                  <a:srgbClr val="6B5E7A"/>
                </a:solidFill>
                <a:latin typeface="Calibri" pitchFamily="34" charset="0"/>
                <a:ea typeface="Calibri" pitchFamily="34" charset="-122"/>
                <a:cs typeface="Calibri" pitchFamily="34" charset="-120"/>
              </a:rPr>
              <a:t>Orders</a:t>
            </a:r>
            <a:endParaRPr lang="en-US" sz="1400" dirty="0"/>
          </a:p>
        </p:txBody>
      </p:sp>
      <p:sp>
        <p:nvSpPr>
          <p:cNvPr id="42" name="Shape 33"/>
          <p:cNvSpPr/>
          <p:nvPr/>
        </p:nvSpPr>
        <p:spPr>
          <a:xfrm>
            <a:off x="9838944" y="4937760"/>
            <a:ext cx="2212848" cy="1188720"/>
          </a:xfrm>
          <a:prstGeom prst="roundRect">
            <a:avLst>
              <a:gd name="adj" fmla="val 7692"/>
            </a:avLst>
          </a:prstGeom>
          <a:solidFill>
            <a:srgbClr val="FFFFFF"/>
          </a:solidFill>
          <a:ln w="12700">
            <a:solidFill>
              <a:srgbClr val="E4DBEE"/>
            </a:solidFill>
            <a:prstDash val="solid"/>
          </a:ln>
          <a:effectLst>
            <a:outerShdw sx="100000" sy="100000" kx="0" ky="0" algn="bl" rotWithShape="0" blurRad="76200" dist="25400" dir="5400000">
              <a:srgbClr val="9B8AAE">
                <a:alpha val="25000"/>
              </a:srgbClr>
            </a:outerShdw>
          </a:effectLst>
        </p:spPr>
      </p:sp>
      <p:sp>
        <p:nvSpPr>
          <p:cNvPr id="43" name="Text 34"/>
          <p:cNvSpPr txBox="1"/>
          <p:nvPr/>
        </p:nvSpPr>
        <p:spPr>
          <a:xfrm>
            <a:off x="9838944" y="5074920"/>
            <a:ext cx="2212848" cy="411480"/>
          </a:xfrm>
          <a:prstGeom prst="rect">
            <a:avLst/>
          </a:prstGeom>
          <a:noFill/>
          <a:ln/>
        </p:spPr>
        <p:txBody>
          <a:bodyPr wrap="square" lIns="0" tIns="0" rIns="0" bIns="0" rtlCol="0" anchor="ctr"/>
          <a:lstStyle/>
          <a:p>
            <a:pPr algn="ctr" indent="0" marL="0">
              <a:buNone/>
            </a:pPr>
            <a:r>
              <a:rPr lang="en-US" sz="1400" b="1" dirty="0">
                <a:solidFill>
                  <a:srgbClr val="4B2B6E"/>
                </a:solidFill>
                <a:latin typeface="Calibri" pitchFamily="34" charset="0"/>
                <a:ea typeface="Calibri" pitchFamily="34" charset="-122"/>
                <a:cs typeface="Calibri" pitchFamily="34" charset="-120"/>
              </a:rPr>
              <a:t>649</a:t>
            </a:r>
            <a:endParaRPr lang="en-US" sz="1400" dirty="0"/>
          </a:p>
        </p:txBody>
      </p:sp>
      <p:sp>
        <p:nvSpPr>
          <p:cNvPr id="44" name="Text 35"/>
          <p:cNvSpPr txBox="1"/>
          <p:nvPr/>
        </p:nvSpPr>
        <p:spPr>
          <a:xfrm>
            <a:off x="9838944" y="5532120"/>
            <a:ext cx="2212848" cy="411480"/>
          </a:xfrm>
          <a:prstGeom prst="rect">
            <a:avLst/>
          </a:prstGeom>
          <a:noFill/>
          <a:ln/>
        </p:spPr>
        <p:txBody>
          <a:bodyPr wrap="square" lIns="0" tIns="0" rIns="0" bIns="0" rtlCol="0" anchor="ctr"/>
          <a:lstStyle/>
          <a:p>
            <a:pPr algn="ctr" indent="0" marL="0">
              <a:buNone/>
            </a:pPr>
            <a:r>
              <a:rPr lang="en-US" sz="1400" dirty="0">
                <a:solidFill>
                  <a:srgbClr val="6B5E7A"/>
                </a:solidFill>
                <a:latin typeface="Calibri" pitchFamily="34" charset="0"/>
                <a:ea typeface="Calibri" pitchFamily="34" charset="-122"/>
                <a:cs typeface="Calibri" pitchFamily="34" charset="-120"/>
              </a:rPr>
              <a:t>Buying Customers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B2B6E"/>
          </a:solidFill>
          <a:ln/>
        </p:spPr>
      </p:sp>
      <p:sp>
        <p:nvSpPr>
          <p:cNvPr id="3" name="Text 1"/>
          <p:cNvSpPr txBox="1"/>
          <p:nvPr/>
        </p:nvSpPr>
        <p:spPr>
          <a:xfrm>
            <a:off x="548640" y="0"/>
            <a:ext cx="11064240" cy="10515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Solution: Interactive Excel Dashboard</a:t>
            </a:r>
            <a:endParaRPr lang="en-US" sz="3000" dirty="0"/>
          </a:p>
        </p:txBody>
      </p:sp>
      <p:sp>
        <p:nvSpPr>
          <p:cNvPr id="4" name="Shape 2"/>
          <p:cNvSpPr/>
          <p:nvPr/>
        </p:nvSpPr>
        <p:spPr>
          <a:xfrm>
            <a:off x="502920" y="1280160"/>
            <a:ext cx="6821424" cy="3076762"/>
          </a:xfrm>
          <a:prstGeom prst="roundRect">
            <a:avLst>
              <a:gd name="adj" fmla="val 2972"/>
            </a:avLst>
          </a:prstGeom>
          <a:solidFill>
            <a:srgbClr val="FFFFFF"/>
          </a:solidFill>
          <a:ln w="12700">
            <a:solidFill>
              <a:srgbClr val="E4DBEE"/>
            </a:solidFill>
            <a:prstDash val="solid"/>
          </a:ln>
          <a:effectLst>
            <a:outerShdw sx="100000" sy="100000" kx="0" ky="0" algn="bl" rotWithShape="0" blurRad="76200" dist="25400" dir="5400000">
              <a:srgbClr val="9B8AAE">
                <a:alpha val="25000"/>
              </a:srgbClr>
            </a:outerShdw>
          </a:effectLst>
        </p:spPr>
      </p:sp>
      <p:pic>
        <p:nvPicPr>
          <p:cNvPr id="5" name="Image 0" descr="dashboard.png">    </p:cNvPr>
          <p:cNvPicPr>
            <a:picLocks noChangeAspect="1"/>
          </p:cNvPicPr>
          <p:nvPr/>
        </p:nvPicPr>
        <p:blipFill>
          <a:blip r:embed="rId1"/>
          <a:stretch>
            <a:fillRect/>
          </a:stretch>
        </p:blipFill>
        <p:spPr>
          <a:xfrm>
            <a:off x="576072" y="1353312"/>
            <a:ext cx="6675120" cy="2930458"/>
          </a:xfrm>
          <a:prstGeom prst="rect">
            <a:avLst/>
          </a:prstGeom>
        </p:spPr>
      </p:pic>
      <p:sp>
        <p:nvSpPr>
          <p:cNvPr id="6" name="Text 3"/>
          <p:cNvSpPr txBox="1"/>
          <p:nvPr/>
        </p:nvSpPr>
        <p:spPr>
          <a:xfrm>
            <a:off x="502920" y="4484938"/>
            <a:ext cx="6821424" cy="365760"/>
          </a:xfrm>
          <a:prstGeom prst="rect">
            <a:avLst/>
          </a:prstGeom>
          <a:noFill/>
          <a:ln/>
        </p:spPr>
        <p:txBody>
          <a:bodyPr wrap="square" lIns="0" tIns="0" rIns="0" bIns="0" rtlCol="0" anchor="ctr"/>
          <a:lstStyle/>
          <a:p>
            <a:pPr algn="ctr" indent="0" marL="0">
              <a:buNone/>
            </a:pPr>
            <a:r>
              <a:rPr lang="en-US" sz="1400" i="1" dirty="0">
                <a:solidFill>
                  <a:srgbClr val="6B5E7A"/>
                </a:solidFill>
                <a:latin typeface="Calibri" pitchFamily="34" charset="0"/>
                <a:ea typeface="Calibri" pitchFamily="34" charset="-122"/>
                <a:cs typeface="Calibri" pitchFamily="34" charset="-120"/>
              </a:rPr>
              <a:t>Live dashboard — charts shown for Jan–Mar 2026; KPI cards cover the full period</a:t>
            </a:r>
            <a:endParaRPr lang="en-US" sz="1400" dirty="0"/>
          </a:p>
        </p:txBody>
      </p:sp>
      <p:sp>
        <p:nvSpPr>
          <p:cNvPr id="7" name="Text 4"/>
          <p:cNvSpPr txBox="1"/>
          <p:nvPr/>
        </p:nvSpPr>
        <p:spPr>
          <a:xfrm>
            <a:off x="7452360" y="1234440"/>
            <a:ext cx="4160520" cy="365760"/>
          </a:xfrm>
          <a:prstGeom prst="rect">
            <a:avLst/>
          </a:prstGeom>
          <a:noFill/>
          <a:ln/>
        </p:spPr>
        <p:txBody>
          <a:bodyPr wrap="square" lIns="0" tIns="0" rIns="0" bIns="0" rtlCol="0" anchor="ctr"/>
          <a:lstStyle/>
          <a:p>
            <a:pPr indent="0" marL="0">
              <a:buNone/>
            </a:pPr>
            <a:r>
              <a:rPr lang="en-US" sz="1400" b="1" dirty="0">
                <a:solidFill>
                  <a:srgbClr val="4B2B6E"/>
                </a:solidFill>
                <a:latin typeface="Calibri" pitchFamily="34" charset="0"/>
                <a:ea typeface="Calibri" pitchFamily="34" charset="-122"/>
                <a:cs typeface="Calibri" pitchFamily="34" charset="-120"/>
              </a:rPr>
              <a:t>Built With</a:t>
            </a:r>
            <a:endParaRPr lang="en-US" sz="1400" dirty="0"/>
          </a:p>
        </p:txBody>
      </p:sp>
      <p:sp>
        <p:nvSpPr>
          <p:cNvPr id="8" name="Shape 5"/>
          <p:cNvSpPr/>
          <p:nvPr/>
        </p:nvSpPr>
        <p:spPr>
          <a:xfrm>
            <a:off x="7452360" y="1709928"/>
            <a:ext cx="82296" cy="82296"/>
          </a:xfrm>
          <a:prstGeom prst="ellipse">
            <a:avLst/>
          </a:prstGeom>
          <a:solidFill>
            <a:srgbClr val="F2B84B"/>
          </a:solidFill>
          <a:ln/>
        </p:spPr>
      </p:sp>
      <p:sp>
        <p:nvSpPr>
          <p:cNvPr id="9" name="Text 6"/>
          <p:cNvSpPr txBox="1"/>
          <p:nvPr/>
        </p:nvSpPr>
        <p:spPr>
          <a:xfrm>
            <a:off x="7680960" y="1627632"/>
            <a:ext cx="3977640" cy="502920"/>
          </a:xfrm>
          <a:prstGeom prst="rect">
            <a:avLst/>
          </a:prstGeom>
          <a:noFill/>
          <a:ln/>
        </p:spPr>
        <p:txBody>
          <a:bodyPr wrap="square" lIns="0" tIns="0" rIns="0" bIns="0" rtlCol="0" anchor="t"/>
          <a:lstStyle/>
          <a:p>
            <a:pPr indent="0" marL="0">
              <a:buNone/>
            </a:pPr>
            <a:r>
              <a:rPr lang="en-US" sz="1400" dirty="0">
                <a:solidFill>
                  <a:srgbClr val="2E1F3D"/>
                </a:solidFill>
                <a:latin typeface="Calibri" pitchFamily="34" charset="0"/>
                <a:ea typeface="Calibri" pitchFamily="34" charset="-122"/>
                <a:cs typeface="Calibri" pitchFamily="34" charset="-120"/>
              </a:rPr>
              <a:t>Data cleaning + calculated columns (Profit, Margin, Day Type)</a:t>
            </a:r>
            <a:endParaRPr lang="en-US" sz="1400" dirty="0"/>
          </a:p>
        </p:txBody>
      </p:sp>
      <p:sp>
        <p:nvSpPr>
          <p:cNvPr id="10" name="Shape 7"/>
          <p:cNvSpPr/>
          <p:nvPr/>
        </p:nvSpPr>
        <p:spPr>
          <a:xfrm>
            <a:off x="7452360" y="2240280"/>
            <a:ext cx="82296" cy="82296"/>
          </a:xfrm>
          <a:prstGeom prst="ellipse">
            <a:avLst/>
          </a:prstGeom>
          <a:solidFill>
            <a:srgbClr val="F2B84B"/>
          </a:solidFill>
          <a:ln/>
        </p:spPr>
      </p:sp>
      <p:sp>
        <p:nvSpPr>
          <p:cNvPr id="11" name="Text 8"/>
          <p:cNvSpPr txBox="1"/>
          <p:nvPr/>
        </p:nvSpPr>
        <p:spPr>
          <a:xfrm>
            <a:off x="7680960" y="2157984"/>
            <a:ext cx="3977640" cy="502920"/>
          </a:xfrm>
          <a:prstGeom prst="rect">
            <a:avLst/>
          </a:prstGeom>
          <a:noFill/>
          <a:ln/>
        </p:spPr>
        <p:txBody>
          <a:bodyPr wrap="square" lIns="0" tIns="0" rIns="0" bIns="0" rtlCol="0" anchor="t"/>
          <a:lstStyle/>
          <a:p>
            <a:pPr indent="0" marL="0">
              <a:buNone/>
            </a:pPr>
            <a:r>
              <a:rPr lang="en-US" sz="1400" dirty="0">
                <a:solidFill>
                  <a:srgbClr val="2E1F3D"/>
                </a:solidFill>
                <a:latin typeface="Calibri" pitchFamily="34" charset="0"/>
                <a:ea typeface="Calibri" pitchFamily="34" charset="-122"/>
                <a:cs typeface="Calibri" pitchFamily="34" charset="-120"/>
              </a:rPr>
              <a:t>PivotTables &amp; PivotCharts across 7 dimensions</a:t>
            </a:r>
            <a:endParaRPr lang="en-US" sz="1400" dirty="0"/>
          </a:p>
        </p:txBody>
      </p:sp>
      <p:sp>
        <p:nvSpPr>
          <p:cNvPr id="12" name="Shape 9"/>
          <p:cNvSpPr/>
          <p:nvPr/>
        </p:nvSpPr>
        <p:spPr>
          <a:xfrm>
            <a:off x="7452360" y="2770632"/>
            <a:ext cx="82296" cy="82296"/>
          </a:xfrm>
          <a:prstGeom prst="ellipse">
            <a:avLst/>
          </a:prstGeom>
          <a:solidFill>
            <a:srgbClr val="F2B84B"/>
          </a:solidFill>
          <a:ln/>
        </p:spPr>
      </p:sp>
      <p:sp>
        <p:nvSpPr>
          <p:cNvPr id="13" name="Text 10"/>
          <p:cNvSpPr txBox="1"/>
          <p:nvPr/>
        </p:nvSpPr>
        <p:spPr>
          <a:xfrm>
            <a:off x="7680960" y="2688336"/>
            <a:ext cx="3977640" cy="502920"/>
          </a:xfrm>
          <a:prstGeom prst="rect">
            <a:avLst/>
          </a:prstGeom>
          <a:noFill/>
          <a:ln/>
        </p:spPr>
        <p:txBody>
          <a:bodyPr wrap="square" lIns="0" tIns="0" rIns="0" bIns="0" rtlCol="0" anchor="t"/>
          <a:lstStyle/>
          <a:p>
            <a:pPr indent="0" marL="0">
              <a:buNone/>
            </a:pPr>
            <a:r>
              <a:rPr lang="en-US" sz="1400" dirty="0">
                <a:solidFill>
                  <a:srgbClr val="2E1F3D"/>
                </a:solidFill>
                <a:latin typeface="Calibri" pitchFamily="34" charset="0"/>
                <a:ea typeface="Calibri" pitchFamily="34" charset="-122"/>
                <a:cs typeface="Calibri" pitchFamily="34" charset="-120"/>
              </a:rPr>
              <a:t>KPI cards with connected slicers for live filtering</a:t>
            </a:r>
            <a:endParaRPr lang="en-US" sz="1400" dirty="0"/>
          </a:p>
        </p:txBody>
      </p:sp>
      <p:sp>
        <p:nvSpPr>
          <p:cNvPr id="14" name="Text 11"/>
          <p:cNvSpPr txBox="1"/>
          <p:nvPr/>
        </p:nvSpPr>
        <p:spPr>
          <a:xfrm>
            <a:off x="7452360" y="3328416"/>
            <a:ext cx="4160520" cy="365760"/>
          </a:xfrm>
          <a:prstGeom prst="rect">
            <a:avLst/>
          </a:prstGeom>
          <a:noFill/>
          <a:ln/>
        </p:spPr>
        <p:txBody>
          <a:bodyPr wrap="square" lIns="0" tIns="0" rIns="0" bIns="0" rtlCol="0" anchor="ctr"/>
          <a:lstStyle/>
          <a:p>
            <a:pPr indent="0" marL="0">
              <a:buNone/>
            </a:pPr>
            <a:r>
              <a:rPr lang="en-US" sz="1400" b="1" dirty="0">
                <a:solidFill>
                  <a:srgbClr val="4B2B6E"/>
                </a:solidFill>
                <a:latin typeface="Calibri" pitchFamily="34" charset="0"/>
                <a:ea typeface="Calibri" pitchFamily="34" charset="-122"/>
                <a:cs typeface="Calibri" pitchFamily="34" charset="-120"/>
              </a:rPr>
              <a:t>Key Insights Uncovered</a:t>
            </a:r>
            <a:endParaRPr lang="en-US" sz="1400" dirty="0"/>
          </a:p>
        </p:txBody>
      </p:sp>
      <p:sp>
        <p:nvSpPr>
          <p:cNvPr id="15" name="Shape 12"/>
          <p:cNvSpPr/>
          <p:nvPr/>
        </p:nvSpPr>
        <p:spPr>
          <a:xfrm>
            <a:off x="7452360" y="3749040"/>
            <a:ext cx="402336" cy="402336"/>
          </a:xfrm>
          <a:prstGeom prst="ellipse">
            <a:avLst/>
          </a:prstGeom>
          <a:solidFill>
            <a:srgbClr val="27AE60"/>
          </a:solidFill>
          <a:ln/>
        </p:spPr>
      </p:sp>
      <p:pic>
        <p:nvPicPr>
          <p:cNvPr id="16" name="Image 1" descr="icons/crown.png">    </p:cNvPr>
          <p:cNvPicPr>
            <a:picLocks noChangeAspect="1"/>
          </p:cNvPicPr>
          <p:nvPr/>
        </p:nvPicPr>
        <p:blipFill>
          <a:blip r:embed="rId2"/>
          <a:stretch>
            <a:fillRect/>
          </a:stretch>
        </p:blipFill>
        <p:spPr>
          <a:xfrm>
            <a:off x="7542886" y="3839566"/>
            <a:ext cx="221285" cy="221285"/>
          </a:xfrm>
          <a:prstGeom prst="rect">
            <a:avLst/>
          </a:prstGeom>
        </p:spPr>
      </p:pic>
      <p:sp>
        <p:nvSpPr>
          <p:cNvPr id="17" name="Text 13"/>
          <p:cNvSpPr txBox="1"/>
          <p:nvPr/>
        </p:nvSpPr>
        <p:spPr>
          <a:xfrm>
            <a:off x="7973568" y="3730752"/>
            <a:ext cx="3703320" cy="457200"/>
          </a:xfrm>
          <a:prstGeom prst="rect">
            <a:avLst/>
          </a:prstGeom>
          <a:noFill/>
          <a:ln/>
        </p:spPr>
        <p:txBody>
          <a:bodyPr wrap="square" lIns="0" tIns="0" rIns="0" bIns="0" rtlCol="0" anchor="ctr"/>
          <a:lstStyle/>
          <a:p>
            <a:pPr indent="0" marL="0">
              <a:buNone/>
            </a:pPr>
            <a:r>
              <a:rPr lang="en-US" sz="1400" dirty="0">
                <a:solidFill>
                  <a:srgbClr val="2E1F3D"/>
                </a:solidFill>
                <a:latin typeface="Calibri" pitchFamily="34" charset="0"/>
                <a:ea typeface="Calibri" pitchFamily="34" charset="-122"/>
                <a:cs typeface="Calibri" pitchFamily="34" charset="-120"/>
              </a:rPr>
              <a:t>Gold members: 23% of buyers, 60% of sales and 65% of profit</a:t>
            </a:r>
            <a:endParaRPr lang="en-US" sz="1400" dirty="0"/>
          </a:p>
        </p:txBody>
      </p:sp>
      <p:sp>
        <p:nvSpPr>
          <p:cNvPr id="18" name="Shape 14"/>
          <p:cNvSpPr/>
          <p:nvPr/>
        </p:nvSpPr>
        <p:spPr>
          <a:xfrm>
            <a:off x="7452360" y="4297680"/>
            <a:ext cx="402336" cy="402336"/>
          </a:xfrm>
          <a:prstGeom prst="ellipse">
            <a:avLst/>
          </a:prstGeom>
          <a:solidFill>
            <a:srgbClr val="27AE60"/>
          </a:solidFill>
          <a:ln/>
        </p:spPr>
      </p:sp>
      <p:pic>
        <p:nvPicPr>
          <p:cNvPr id="19" name="Image 2" descr="icons/store.png">    </p:cNvPr>
          <p:cNvPicPr>
            <a:picLocks noChangeAspect="1"/>
          </p:cNvPicPr>
          <p:nvPr/>
        </p:nvPicPr>
        <p:blipFill>
          <a:blip r:embed="rId3"/>
          <a:stretch>
            <a:fillRect/>
          </a:stretch>
        </p:blipFill>
        <p:spPr>
          <a:xfrm>
            <a:off x="7542886" y="4388206"/>
            <a:ext cx="221285" cy="221285"/>
          </a:xfrm>
          <a:prstGeom prst="rect">
            <a:avLst/>
          </a:prstGeom>
        </p:spPr>
      </p:pic>
      <p:sp>
        <p:nvSpPr>
          <p:cNvPr id="20" name="Text 15"/>
          <p:cNvSpPr txBox="1"/>
          <p:nvPr/>
        </p:nvSpPr>
        <p:spPr>
          <a:xfrm>
            <a:off x="7973568" y="4279392"/>
            <a:ext cx="3703320" cy="457200"/>
          </a:xfrm>
          <a:prstGeom prst="rect">
            <a:avLst/>
          </a:prstGeom>
          <a:noFill/>
          <a:ln/>
        </p:spPr>
        <p:txBody>
          <a:bodyPr wrap="square" lIns="0" tIns="0" rIns="0" bIns="0" rtlCol="0" anchor="ctr"/>
          <a:lstStyle/>
          <a:p>
            <a:pPr indent="0" marL="0">
              <a:buNone/>
            </a:pPr>
            <a:r>
              <a:rPr lang="en-US" sz="1400" dirty="0">
                <a:solidFill>
                  <a:srgbClr val="2E1F3D"/>
                </a:solidFill>
                <a:latin typeface="Calibri" pitchFamily="34" charset="0"/>
                <a:ea typeface="Calibri" pitchFamily="34" charset="-122"/>
                <a:cs typeface="Calibri" pitchFamily="34" charset="-120"/>
              </a:rPr>
              <a:t>In-Store drives 69% of sales; Online + Mobile add 31% at similar margins</a:t>
            </a:r>
            <a:endParaRPr lang="en-US" sz="1400" dirty="0"/>
          </a:p>
        </p:txBody>
      </p:sp>
      <p:sp>
        <p:nvSpPr>
          <p:cNvPr id="21" name="Shape 16"/>
          <p:cNvSpPr/>
          <p:nvPr/>
        </p:nvSpPr>
        <p:spPr>
          <a:xfrm>
            <a:off x="7452360" y="4846320"/>
            <a:ext cx="402336" cy="402336"/>
          </a:xfrm>
          <a:prstGeom prst="ellipse">
            <a:avLst/>
          </a:prstGeom>
          <a:solidFill>
            <a:srgbClr val="27AE60"/>
          </a:solidFill>
          <a:ln/>
        </p:spPr>
      </p:sp>
      <p:pic>
        <p:nvPicPr>
          <p:cNvPr id="22" name="Image 3" descr="icons/calendarweek.png">    </p:cNvPr>
          <p:cNvPicPr>
            <a:picLocks noChangeAspect="1"/>
          </p:cNvPicPr>
          <p:nvPr/>
        </p:nvPicPr>
        <p:blipFill>
          <a:blip r:embed="rId4"/>
          <a:stretch>
            <a:fillRect/>
          </a:stretch>
        </p:blipFill>
        <p:spPr>
          <a:xfrm>
            <a:off x="7542886" y="4936846"/>
            <a:ext cx="221285" cy="221285"/>
          </a:xfrm>
          <a:prstGeom prst="rect">
            <a:avLst/>
          </a:prstGeom>
        </p:spPr>
      </p:pic>
      <p:sp>
        <p:nvSpPr>
          <p:cNvPr id="23" name="Text 17"/>
          <p:cNvSpPr txBox="1"/>
          <p:nvPr/>
        </p:nvSpPr>
        <p:spPr>
          <a:xfrm>
            <a:off x="7973568" y="4828032"/>
            <a:ext cx="3703320" cy="457200"/>
          </a:xfrm>
          <a:prstGeom prst="rect">
            <a:avLst/>
          </a:prstGeom>
          <a:noFill/>
          <a:ln/>
        </p:spPr>
        <p:txBody>
          <a:bodyPr wrap="square" lIns="0" tIns="0" rIns="0" bIns="0" rtlCol="0" anchor="ctr"/>
          <a:lstStyle/>
          <a:p>
            <a:pPr indent="0" marL="0">
              <a:buNone/>
            </a:pPr>
            <a:r>
              <a:rPr lang="en-US" sz="1400" dirty="0">
                <a:solidFill>
                  <a:srgbClr val="2E1F3D"/>
                </a:solidFill>
                <a:latin typeface="Calibri" pitchFamily="34" charset="0"/>
                <a:ea typeface="Calibri" pitchFamily="34" charset="-122"/>
                <a:cs typeface="Calibri" pitchFamily="34" charset="-120"/>
              </a:rPr>
              <a:t>Weekends earn 60% of profit from 50% of sales (margin 31% vs 20%)</a:t>
            </a:r>
            <a:endParaRPr lang="en-US" sz="1400" dirty="0"/>
          </a:p>
        </p:txBody>
      </p:sp>
      <p:sp>
        <p:nvSpPr>
          <p:cNvPr id="24" name="Shape 18"/>
          <p:cNvSpPr/>
          <p:nvPr/>
        </p:nvSpPr>
        <p:spPr>
          <a:xfrm>
            <a:off x="7452360" y="5394960"/>
            <a:ext cx="402336" cy="402336"/>
          </a:xfrm>
          <a:prstGeom prst="ellipse">
            <a:avLst/>
          </a:prstGeom>
          <a:solidFill>
            <a:srgbClr val="27AE60"/>
          </a:solidFill>
          <a:ln/>
        </p:spPr>
      </p:sp>
      <p:pic>
        <p:nvPicPr>
          <p:cNvPr id="25" name="Image 4" descr="icons/map.png">    </p:cNvPr>
          <p:cNvPicPr>
            <a:picLocks noChangeAspect="1"/>
          </p:cNvPicPr>
          <p:nvPr/>
        </p:nvPicPr>
        <p:blipFill>
          <a:blip r:embed="rId5"/>
          <a:stretch>
            <a:fillRect/>
          </a:stretch>
        </p:blipFill>
        <p:spPr>
          <a:xfrm>
            <a:off x="7542886" y="5485486"/>
            <a:ext cx="221285" cy="221285"/>
          </a:xfrm>
          <a:prstGeom prst="rect">
            <a:avLst/>
          </a:prstGeom>
        </p:spPr>
      </p:pic>
      <p:sp>
        <p:nvSpPr>
          <p:cNvPr id="26" name="Text 19"/>
          <p:cNvSpPr txBox="1"/>
          <p:nvPr/>
        </p:nvSpPr>
        <p:spPr>
          <a:xfrm>
            <a:off x="7973568" y="5376672"/>
            <a:ext cx="3703320" cy="457200"/>
          </a:xfrm>
          <a:prstGeom prst="rect">
            <a:avLst/>
          </a:prstGeom>
          <a:noFill/>
          <a:ln/>
        </p:spPr>
        <p:txBody>
          <a:bodyPr wrap="square" lIns="0" tIns="0" rIns="0" bIns="0" rtlCol="0" anchor="ctr"/>
          <a:lstStyle/>
          <a:p>
            <a:pPr indent="0" marL="0">
              <a:buNone/>
            </a:pPr>
            <a:r>
              <a:rPr lang="en-US" sz="1400" dirty="0">
                <a:solidFill>
                  <a:srgbClr val="2E1F3D"/>
                </a:solidFill>
                <a:latin typeface="Calibri" pitchFamily="34" charset="0"/>
                <a:ea typeface="Calibri" pitchFamily="34" charset="-122"/>
                <a:cs typeface="Calibri" pitchFamily="34" charset="-120"/>
              </a:rPr>
              <a:t>South delivers 65% of sales; East and North lag far behind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B2B6E"/>
          </a:solidFill>
          <a:ln/>
        </p:spPr>
      </p:sp>
      <p:sp>
        <p:nvSpPr>
          <p:cNvPr id="3" name="Text 1"/>
          <p:cNvSpPr txBox="1"/>
          <p:nvPr/>
        </p:nvSpPr>
        <p:spPr>
          <a:xfrm>
            <a:off x="548640" y="0"/>
            <a:ext cx="11064240" cy="10515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Recommendations</a:t>
            </a:r>
            <a:endParaRPr lang="en-US" sz="3000" dirty="0"/>
          </a:p>
        </p:txBody>
      </p:sp>
      <p:sp>
        <p:nvSpPr>
          <p:cNvPr id="4" name="Text 2"/>
          <p:cNvSpPr txBox="1"/>
          <p:nvPr/>
        </p:nvSpPr>
        <p:spPr>
          <a:xfrm>
            <a:off x="548640" y="1143000"/>
            <a:ext cx="8229600" cy="411480"/>
          </a:xfrm>
          <a:prstGeom prst="rect">
            <a:avLst/>
          </a:prstGeom>
          <a:noFill/>
          <a:ln/>
        </p:spPr>
        <p:txBody>
          <a:bodyPr wrap="square" lIns="0" tIns="0" rIns="0" bIns="0" rtlCol="0" anchor="ctr"/>
          <a:lstStyle/>
          <a:p>
            <a:pPr indent="0" marL="0">
              <a:buNone/>
            </a:pPr>
            <a:r>
              <a:rPr lang="en-US" sz="1400" i="1" dirty="0">
                <a:solidFill>
                  <a:srgbClr val="6B5E7A"/>
                </a:solidFill>
                <a:latin typeface="Calibri" pitchFamily="34" charset="0"/>
                <a:ea typeface="Calibri" pitchFamily="34" charset="-122"/>
                <a:cs typeface="Calibri" pitchFamily="34" charset="-120"/>
              </a:rPr>
              <a:t>Areas for management to act on and investigate — patterns in the data, not proven causes</a:t>
            </a:r>
            <a:endParaRPr lang="en-US" sz="1400" dirty="0"/>
          </a:p>
        </p:txBody>
      </p:sp>
      <p:sp>
        <p:nvSpPr>
          <p:cNvPr id="5" name="Shape 3"/>
          <p:cNvSpPr/>
          <p:nvPr/>
        </p:nvSpPr>
        <p:spPr>
          <a:xfrm>
            <a:off x="548640" y="1691640"/>
            <a:ext cx="3520440" cy="1965960"/>
          </a:xfrm>
          <a:prstGeom prst="roundRect">
            <a:avLst>
              <a:gd name="adj" fmla="val 4651"/>
            </a:avLst>
          </a:prstGeom>
          <a:solidFill>
            <a:srgbClr val="FFFFFF"/>
          </a:solidFill>
          <a:ln w="12700">
            <a:solidFill>
              <a:srgbClr val="E4DBEE"/>
            </a:solidFill>
            <a:prstDash val="solid"/>
          </a:ln>
          <a:effectLst>
            <a:outerShdw sx="100000" sy="100000" kx="0" ky="0" algn="bl" rotWithShape="0" blurRad="76200" dist="25400" dir="5400000">
              <a:srgbClr val="9B8AAE">
                <a:alpha val="25000"/>
              </a:srgbClr>
            </a:outerShdw>
          </a:effectLst>
        </p:spPr>
      </p:sp>
      <p:sp>
        <p:nvSpPr>
          <p:cNvPr id="6" name="Shape 4"/>
          <p:cNvSpPr/>
          <p:nvPr/>
        </p:nvSpPr>
        <p:spPr>
          <a:xfrm>
            <a:off x="777240" y="1920240"/>
            <a:ext cx="548640" cy="548640"/>
          </a:xfrm>
          <a:prstGeom prst="ellipse">
            <a:avLst/>
          </a:prstGeom>
          <a:solidFill>
            <a:srgbClr val="27AE60"/>
          </a:solidFill>
          <a:ln/>
        </p:spPr>
      </p:sp>
      <p:pic>
        <p:nvPicPr>
          <p:cNvPr id="7" name="Image 0" descr="icons/bullhorn.png">    </p:cNvPr>
          <p:cNvPicPr>
            <a:picLocks noChangeAspect="1"/>
          </p:cNvPicPr>
          <p:nvPr/>
        </p:nvPicPr>
        <p:blipFill>
          <a:blip r:embed="rId1"/>
          <a:stretch>
            <a:fillRect/>
          </a:stretch>
        </p:blipFill>
        <p:spPr>
          <a:xfrm>
            <a:off x="900684" y="2043684"/>
            <a:ext cx="301752" cy="301752"/>
          </a:xfrm>
          <a:prstGeom prst="rect">
            <a:avLst/>
          </a:prstGeom>
        </p:spPr>
      </p:pic>
      <p:sp>
        <p:nvSpPr>
          <p:cNvPr id="8" name="Text 5"/>
          <p:cNvSpPr txBox="1"/>
          <p:nvPr/>
        </p:nvSpPr>
        <p:spPr>
          <a:xfrm>
            <a:off x="777240" y="2587752"/>
            <a:ext cx="3063240" cy="365760"/>
          </a:xfrm>
          <a:prstGeom prst="rect">
            <a:avLst/>
          </a:prstGeom>
          <a:noFill/>
          <a:ln/>
        </p:spPr>
        <p:txBody>
          <a:bodyPr wrap="square" lIns="0" tIns="0" rIns="0" bIns="0" rtlCol="0" anchor="ctr"/>
          <a:lstStyle/>
          <a:p>
            <a:pPr indent="0" marL="0">
              <a:buNone/>
            </a:pPr>
            <a:r>
              <a:rPr lang="en-US" sz="1400" b="1" dirty="0">
                <a:solidFill>
                  <a:srgbClr val="4B2B6E"/>
                </a:solidFill>
                <a:latin typeface="Calibri" pitchFamily="34" charset="0"/>
                <a:ea typeface="Calibri" pitchFamily="34" charset="-122"/>
                <a:cs typeface="Calibri" pitchFamily="34" charset="-120"/>
              </a:rPr>
              <a:t>Set Discount Guardrails</a:t>
            </a:r>
            <a:endParaRPr lang="en-US" sz="1400" dirty="0"/>
          </a:p>
        </p:txBody>
      </p:sp>
      <p:sp>
        <p:nvSpPr>
          <p:cNvPr id="9" name="Text 6"/>
          <p:cNvSpPr txBox="1"/>
          <p:nvPr/>
        </p:nvSpPr>
        <p:spPr>
          <a:xfrm>
            <a:off x="777240" y="2953512"/>
            <a:ext cx="3063240" cy="640080"/>
          </a:xfrm>
          <a:prstGeom prst="rect">
            <a:avLst/>
          </a:prstGeom>
          <a:noFill/>
          <a:ln/>
        </p:spPr>
        <p:txBody>
          <a:bodyPr wrap="square" lIns="0" tIns="0" rIns="0" bIns="0" rtlCol="0" anchor="t"/>
          <a:lstStyle/>
          <a:p>
            <a:pPr indent="0" marL="0">
              <a:buNone/>
            </a:pPr>
            <a:r>
              <a:rPr lang="en-US" sz="1400" dirty="0">
                <a:solidFill>
                  <a:srgbClr val="6B5E7A"/>
                </a:solidFill>
                <a:latin typeface="Calibri" pitchFamily="34" charset="0"/>
                <a:ea typeface="Calibri" pitchFamily="34" charset="-122"/>
                <a:cs typeface="Calibri" pitchFamily="34" charset="-120"/>
              </a:rPr>
              <a:t>Margins fall from 31% to 14% at a 20% discount.</a:t>
            </a:r>
            <a:endParaRPr lang="en-US" sz="1400" dirty="0"/>
          </a:p>
        </p:txBody>
      </p:sp>
      <p:sp>
        <p:nvSpPr>
          <p:cNvPr id="10" name="Shape 7"/>
          <p:cNvSpPr/>
          <p:nvPr/>
        </p:nvSpPr>
        <p:spPr>
          <a:xfrm>
            <a:off x="4251960" y="1691640"/>
            <a:ext cx="3520440" cy="1965960"/>
          </a:xfrm>
          <a:prstGeom prst="roundRect">
            <a:avLst>
              <a:gd name="adj" fmla="val 4651"/>
            </a:avLst>
          </a:prstGeom>
          <a:solidFill>
            <a:srgbClr val="FFFFFF"/>
          </a:solidFill>
          <a:ln w="12700">
            <a:solidFill>
              <a:srgbClr val="E4DBEE"/>
            </a:solidFill>
            <a:prstDash val="solid"/>
          </a:ln>
          <a:effectLst>
            <a:outerShdw sx="100000" sy="100000" kx="0" ky="0" algn="bl" rotWithShape="0" blurRad="76200" dist="25400" dir="5400000">
              <a:srgbClr val="9B8AAE">
                <a:alpha val="25000"/>
              </a:srgbClr>
            </a:outerShdw>
          </a:effectLst>
        </p:spPr>
      </p:sp>
      <p:sp>
        <p:nvSpPr>
          <p:cNvPr id="11" name="Shape 8"/>
          <p:cNvSpPr/>
          <p:nvPr/>
        </p:nvSpPr>
        <p:spPr>
          <a:xfrm>
            <a:off x="4480560" y="1920240"/>
            <a:ext cx="548640" cy="548640"/>
          </a:xfrm>
          <a:prstGeom prst="ellipse">
            <a:avLst/>
          </a:prstGeom>
          <a:solidFill>
            <a:srgbClr val="27AE60"/>
          </a:solidFill>
          <a:ln/>
        </p:spPr>
      </p:sp>
      <p:pic>
        <p:nvPicPr>
          <p:cNvPr id="12" name="Image 1" descr="icons/gift.png">    </p:cNvPr>
          <p:cNvPicPr>
            <a:picLocks noChangeAspect="1"/>
          </p:cNvPicPr>
          <p:nvPr/>
        </p:nvPicPr>
        <p:blipFill>
          <a:blip r:embed="rId2"/>
          <a:stretch>
            <a:fillRect/>
          </a:stretch>
        </p:blipFill>
        <p:spPr>
          <a:xfrm>
            <a:off x="4604004" y="2043684"/>
            <a:ext cx="301752" cy="301752"/>
          </a:xfrm>
          <a:prstGeom prst="rect">
            <a:avLst/>
          </a:prstGeom>
        </p:spPr>
      </p:pic>
      <p:sp>
        <p:nvSpPr>
          <p:cNvPr id="13" name="Text 9"/>
          <p:cNvSpPr txBox="1"/>
          <p:nvPr/>
        </p:nvSpPr>
        <p:spPr>
          <a:xfrm>
            <a:off x="4480560" y="2587752"/>
            <a:ext cx="3063240" cy="365760"/>
          </a:xfrm>
          <a:prstGeom prst="rect">
            <a:avLst/>
          </a:prstGeom>
          <a:noFill/>
          <a:ln/>
        </p:spPr>
        <p:txBody>
          <a:bodyPr wrap="square" lIns="0" tIns="0" rIns="0" bIns="0" rtlCol="0" anchor="ctr"/>
          <a:lstStyle/>
          <a:p>
            <a:pPr indent="0" marL="0">
              <a:buNone/>
            </a:pPr>
            <a:r>
              <a:rPr lang="en-US" sz="1400" b="1" dirty="0">
                <a:solidFill>
                  <a:srgbClr val="4B2B6E"/>
                </a:solidFill>
                <a:latin typeface="Calibri" pitchFamily="34" charset="0"/>
                <a:ea typeface="Calibri" pitchFamily="34" charset="-122"/>
                <a:cs typeface="Calibri" pitchFamily="34" charset="-120"/>
              </a:rPr>
              <a:t>Gold Loyalty Rewards</a:t>
            </a:r>
            <a:endParaRPr lang="en-US" sz="1400" dirty="0"/>
          </a:p>
        </p:txBody>
      </p:sp>
      <p:sp>
        <p:nvSpPr>
          <p:cNvPr id="14" name="Text 10"/>
          <p:cNvSpPr txBox="1"/>
          <p:nvPr/>
        </p:nvSpPr>
        <p:spPr>
          <a:xfrm>
            <a:off x="4480560" y="2953512"/>
            <a:ext cx="3063240" cy="640080"/>
          </a:xfrm>
          <a:prstGeom prst="rect">
            <a:avLst/>
          </a:prstGeom>
          <a:noFill/>
          <a:ln/>
        </p:spPr>
        <p:txBody>
          <a:bodyPr wrap="square" lIns="0" tIns="0" rIns="0" bIns="0" rtlCol="0" anchor="t"/>
          <a:lstStyle/>
          <a:p>
            <a:pPr indent="0" marL="0">
              <a:buNone/>
            </a:pPr>
            <a:r>
              <a:rPr lang="en-US" sz="1400" dirty="0">
                <a:solidFill>
                  <a:srgbClr val="6B5E7A"/>
                </a:solidFill>
                <a:latin typeface="Calibri" pitchFamily="34" charset="0"/>
                <a:ea typeface="Calibri" pitchFamily="34" charset="-122"/>
                <a:cs typeface="Calibri" pitchFamily="34" charset="-120"/>
              </a:rPr>
              <a:t>Gold is 23% of buyers but 60% of sales — retain them with tailored perks.</a:t>
            </a:r>
            <a:endParaRPr lang="en-US" sz="1400" dirty="0"/>
          </a:p>
        </p:txBody>
      </p:sp>
      <p:sp>
        <p:nvSpPr>
          <p:cNvPr id="15" name="Shape 11"/>
          <p:cNvSpPr/>
          <p:nvPr/>
        </p:nvSpPr>
        <p:spPr>
          <a:xfrm>
            <a:off x="7955280" y="1691640"/>
            <a:ext cx="3520440" cy="1965960"/>
          </a:xfrm>
          <a:prstGeom prst="roundRect">
            <a:avLst>
              <a:gd name="adj" fmla="val 4651"/>
            </a:avLst>
          </a:prstGeom>
          <a:solidFill>
            <a:srgbClr val="FFFFFF"/>
          </a:solidFill>
          <a:ln w="12700">
            <a:solidFill>
              <a:srgbClr val="E4DBEE"/>
            </a:solidFill>
            <a:prstDash val="solid"/>
          </a:ln>
          <a:effectLst>
            <a:outerShdw sx="100000" sy="100000" kx="0" ky="0" algn="bl" rotWithShape="0" blurRad="76200" dist="25400" dir="5400000">
              <a:srgbClr val="9B8AAE">
                <a:alpha val="25000"/>
              </a:srgbClr>
            </a:outerShdw>
          </a:effectLst>
        </p:spPr>
      </p:sp>
      <p:sp>
        <p:nvSpPr>
          <p:cNvPr id="16" name="Shape 12"/>
          <p:cNvSpPr/>
          <p:nvPr/>
        </p:nvSpPr>
        <p:spPr>
          <a:xfrm>
            <a:off x="8183880" y="1920240"/>
            <a:ext cx="548640" cy="548640"/>
          </a:xfrm>
          <a:prstGeom prst="ellipse">
            <a:avLst/>
          </a:prstGeom>
          <a:solidFill>
            <a:srgbClr val="27AE60"/>
          </a:solidFill>
          <a:ln/>
        </p:spPr>
      </p:sp>
      <p:pic>
        <p:nvPicPr>
          <p:cNvPr id="17" name="Image 2" descr="icons/mobile.png">    </p:cNvPr>
          <p:cNvPicPr>
            <a:picLocks noChangeAspect="1"/>
          </p:cNvPicPr>
          <p:nvPr/>
        </p:nvPicPr>
        <p:blipFill>
          <a:blip r:embed="rId3"/>
          <a:stretch>
            <a:fillRect/>
          </a:stretch>
        </p:blipFill>
        <p:spPr>
          <a:xfrm>
            <a:off x="8307324" y="2043684"/>
            <a:ext cx="301752" cy="301752"/>
          </a:xfrm>
          <a:prstGeom prst="rect">
            <a:avLst/>
          </a:prstGeom>
        </p:spPr>
      </p:pic>
      <p:sp>
        <p:nvSpPr>
          <p:cNvPr id="18" name="Text 13"/>
          <p:cNvSpPr txBox="1"/>
          <p:nvPr/>
        </p:nvSpPr>
        <p:spPr>
          <a:xfrm>
            <a:off x="8183880" y="2587752"/>
            <a:ext cx="3063240" cy="365760"/>
          </a:xfrm>
          <a:prstGeom prst="rect">
            <a:avLst/>
          </a:prstGeom>
          <a:noFill/>
          <a:ln/>
        </p:spPr>
        <p:txBody>
          <a:bodyPr wrap="square" lIns="0" tIns="0" rIns="0" bIns="0" rtlCol="0" anchor="ctr"/>
          <a:lstStyle/>
          <a:p>
            <a:pPr indent="0" marL="0">
              <a:buNone/>
            </a:pPr>
            <a:r>
              <a:rPr lang="en-US" sz="1400" b="1" dirty="0">
                <a:solidFill>
                  <a:srgbClr val="4B2B6E"/>
                </a:solidFill>
                <a:latin typeface="Calibri" pitchFamily="34" charset="0"/>
                <a:ea typeface="Calibri" pitchFamily="34" charset="-122"/>
                <a:cs typeface="Calibri" pitchFamily="34" charset="-120"/>
              </a:rPr>
              <a:t>Evaluate Digital Channels</a:t>
            </a:r>
            <a:endParaRPr lang="en-US" sz="1400" dirty="0"/>
          </a:p>
        </p:txBody>
      </p:sp>
      <p:sp>
        <p:nvSpPr>
          <p:cNvPr id="19" name="Text 14"/>
          <p:cNvSpPr txBox="1"/>
          <p:nvPr/>
        </p:nvSpPr>
        <p:spPr>
          <a:xfrm>
            <a:off x="8183880" y="2953512"/>
            <a:ext cx="3063240" cy="640080"/>
          </a:xfrm>
          <a:prstGeom prst="rect">
            <a:avLst/>
          </a:prstGeom>
          <a:noFill/>
          <a:ln/>
        </p:spPr>
        <p:txBody>
          <a:bodyPr wrap="square" lIns="0" tIns="0" rIns="0" bIns="0" rtlCol="0" anchor="t"/>
          <a:lstStyle/>
          <a:p>
            <a:pPr indent="0" marL="0">
              <a:buNone/>
            </a:pPr>
            <a:r>
              <a:rPr lang="en-US" sz="1400" dirty="0">
                <a:solidFill>
                  <a:srgbClr val="6B5E7A"/>
                </a:solidFill>
                <a:latin typeface="Calibri" pitchFamily="34" charset="0"/>
                <a:ea typeface="Calibri" pitchFamily="34" charset="-122"/>
                <a:cs typeface="Calibri" pitchFamily="34" charset="-120"/>
              </a:rPr>
              <a:t>Online + Mobile are 31% of sales at similar margins; study behaviour first.</a:t>
            </a:r>
            <a:endParaRPr lang="en-US" sz="1400" dirty="0"/>
          </a:p>
        </p:txBody>
      </p:sp>
      <p:sp>
        <p:nvSpPr>
          <p:cNvPr id="20" name="Shape 15"/>
          <p:cNvSpPr/>
          <p:nvPr/>
        </p:nvSpPr>
        <p:spPr>
          <a:xfrm>
            <a:off x="548640" y="3858768"/>
            <a:ext cx="3520440" cy="1965960"/>
          </a:xfrm>
          <a:prstGeom prst="roundRect">
            <a:avLst>
              <a:gd name="adj" fmla="val 4651"/>
            </a:avLst>
          </a:prstGeom>
          <a:solidFill>
            <a:srgbClr val="FFFFFF"/>
          </a:solidFill>
          <a:ln w="12700">
            <a:solidFill>
              <a:srgbClr val="E4DBEE"/>
            </a:solidFill>
            <a:prstDash val="solid"/>
          </a:ln>
          <a:effectLst>
            <a:outerShdw sx="100000" sy="100000" kx="0" ky="0" algn="bl" rotWithShape="0" blurRad="76200" dist="25400" dir="5400000">
              <a:srgbClr val="9B8AAE">
                <a:alpha val="25000"/>
              </a:srgbClr>
            </a:outerShdw>
          </a:effectLst>
        </p:spPr>
      </p:sp>
      <p:sp>
        <p:nvSpPr>
          <p:cNvPr id="21" name="Shape 16"/>
          <p:cNvSpPr/>
          <p:nvPr/>
        </p:nvSpPr>
        <p:spPr>
          <a:xfrm>
            <a:off x="777240" y="4087368"/>
            <a:ext cx="548640" cy="548640"/>
          </a:xfrm>
          <a:prstGeom prst="ellipse">
            <a:avLst/>
          </a:prstGeom>
          <a:solidFill>
            <a:srgbClr val="27AE60"/>
          </a:solidFill>
          <a:ln/>
        </p:spPr>
      </p:sp>
      <p:pic>
        <p:nvPicPr>
          <p:cNvPr id="22" name="Image 3" descr="icons/box.png">    </p:cNvPr>
          <p:cNvPicPr>
            <a:picLocks noChangeAspect="1"/>
          </p:cNvPicPr>
          <p:nvPr/>
        </p:nvPicPr>
        <p:blipFill>
          <a:blip r:embed="rId4"/>
          <a:stretch>
            <a:fillRect/>
          </a:stretch>
        </p:blipFill>
        <p:spPr>
          <a:xfrm>
            <a:off x="900684" y="4210812"/>
            <a:ext cx="301752" cy="301752"/>
          </a:xfrm>
          <a:prstGeom prst="rect">
            <a:avLst/>
          </a:prstGeom>
        </p:spPr>
      </p:pic>
      <p:sp>
        <p:nvSpPr>
          <p:cNvPr id="23" name="Text 17"/>
          <p:cNvSpPr txBox="1"/>
          <p:nvPr/>
        </p:nvSpPr>
        <p:spPr>
          <a:xfrm>
            <a:off x="777240" y="4754880"/>
            <a:ext cx="3063240" cy="365760"/>
          </a:xfrm>
          <a:prstGeom prst="rect">
            <a:avLst/>
          </a:prstGeom>
          <a:noFill/>
          <a:ln/>
        </p:spPr>
        <p:txBody>
          <a:bodyPr wrap="square" lIns="0" tIns="0" rIns="0" bIns="0" rtlCol="0" anchor="ctr"/>
          <a:lstStyle/>
          <a:p>
            <a:pPr indent="0" marL="0">
              <a:buNone/>
            </a:pPr>
            <a:r>
              <a:rPr lang="en-US" sz="1400" b="1" dirty="0">
                <a:solidFill>
                  <a:srgbClr val="4B2B6E"/>
                </a:solidFill>
                <a:latin typeface="Calibri" pitchFamily="34" charset="0"/>
                <a:ea typeface="Calibri" pitchFamily="34" charset="-122"/>
                <a:cs typeface="Calibri" pitchFamily="34" charset="-120"/>
              </a:rPr>
              <a:t>Promote High-Margin Items</a:t>
            </a:r>
            <a:endParaRPr lang="en-US" sz="1400" dirty="0"/>
          </a:p>
        </p:txBody>
      </p:sp>
      <p:sp>
        <p:nvSpPr>
          <p:cNvPr id="24" name="Text 18"/>
          <p:cNvSpPr txBox="1"/>
          <p:nvPr/>
        </p:nvSpPr>
        <p:spPr>
          <a:xfrm>
            <a:off x="777240" y="5120640"/>
            <a:ext cx="3063240" cy="640080"/>
          </a:xfrm>
          <a:prstGeom prst="rect">
            <a:avLst/>
          </a:prstGeom>
          <a:noFill/>
          <a:ln/>
        </p:spPr>
        <p:txBody>
          <a:bodyPr wrap="square" lIns="0" tIns="0" rIns="0" bIns="0" rtlCol="0" anchor="t"/>
          <a:lstStyle/>
          <a:p>
            <a:pPr indent="0" marL="0">
              <a:buNone/>
            </a:pPr>
            <a:r>
              <a:rPr lang="en-US" sz="1400" dirty="0">
                <a:solidFill>
                  <a:srgbClr val="6B5E7A"/>
                </a:solidFill>
                <a:latin typeface="Calibri" pitchFamily="34" charset="0"/>
                <a:ea typeface="Calibri" pitchFamily="34" charset="-122"/>
                <a:cs typeface="Calibri" pitchFamily="34" charset="-120"/>
              </a:rPr>
              <a:t>Bakery earns 20% of profit from 13% of sales; cross-sell Personal Care and Snacks.</a:t>
            </a:r>
            <a:endParaRPr lang="en-US" sz="1400" dirty="0"/>
          </a:p>
        </p:txBody>
      </p:sp>
      <p:sp>
        <p:nvSpPr>
          <p:cNvPr id="25" name="Shape 19"/>
          <p:cNvSpPr/>
          <p:nvPr/>
        </p:nvSpPr>
        <p:spPr>
          <a:xfrm>
            <a:off x="4251960" y="3858768"/>
            <a:ext cx="3520440" cy="1965960"/>
          </a:xfrm>
          <a:prstGeom prst="roundRect">
            <a:avLst>
              <a:gd name="adj" fmla="val 4651"/>
            </a:avLst>
          </a:prstGeom>
          <a:solidFill>
            <a:srgbClr val="FFFFFF"/>
          </a:solidFill>
          <a:ln w="12700">
            <a:solidFill>
              <a:srgbClr val="E4DBEE"/>
            </a:solidFill>
            <a:prstDash val="solid"/>
          </a:ln>
          <a:effectLst>
            <a:outerShdw sx="100000" sy="100000" kx="0" ky="0" algn="bl" rotWithShape="0" blurRad="76200" dist="25400" dir="5400000">
              <a:srgbClr val="9B8AAE">
                <a:alpha val="25000"/>
              </a:srgbClr>
            </a:outerShdw>
          </a:effectLst>
        </p:spPr>
      </p:sp>
      <p:sp>
        <p:nvSpPr>
          <p:cNvPr id="26" name="Shape 20"/>
          <p:cNvSpPr/>
          <p:nvPr/>
        </p:nvSpPr>
        <p:spPr>
          <a:xfrm>
            <a:off x="4480560" y="4087368"/>
            <a:ext cx="548640" cy="548640"/>
          </a:xfrm>
          <a:prstGeom prst="ellipse">
            <a:avLst/>
          </a:prstGeom>
          <a:solidFill>
            <a:srgbClr val="27AE60"/>
          </a:solidFill>
          <a:ln/>
        </p:spPr>
      </p:sp>
      <p:pic>
        <p:nvPicPr>
          <p:cNvPr id="27" name="Image 4" descr="icons/calendar.png">    </p:cNvPr>
          <p:cNvPicPr>
            <a:picLocks noChangeAspect="1"/>
          </p:cNvPicPr>
          <p:nvPr/>
        </p:nvPicPr>
        <p:blipFill>
          <a:blip r:embed="rId5"/>
          <a:stretch>
            <a:fillRect/>
          </a:stretch>
        </p:blipFill>
        <p:spPr>
          <a:xfrm>
            <a:off x="4604004" y="4210812"/>
            <a:ext cx="301752" cy="301752"/>
          </a:xfrm>
          <a:prstGeom prst="rect">
            <a:avLst/>
          </a:prstGeom>
        </p:spPr>
      </p:pic>
      <p:sp>
        <p:nvSpPr>
          <p:cNvPr id="28" name="Text 21"/>
          <p:cNvSpPr txBox="1"/>
          <p:nvPr/>
        </p:nvSpPr>
        <p:spPr>
          <a:xfrm>
            <a:off x="4480560" y="4754880"/>
            <a:ext cx="3063240" cy="365760"/>
          </a:xfrm>
          <a:prstGeom prst="rect">
            <a:avLst/>
          </a:prstGeom>
          <a:noFill/>
          <a:ln/>
        </p:spPr>
        <p:txBody>
          <a:bodyPr wrap="square" lIns="0" tIns="0" rIns="0" bIns="0" rtlCol="0" anchor="ctr"/>
          <a:lstStyle/>
          <a:p>
            <a:pPr indent="0" marL="0">
              <a:buNone/>
            </a:pPr>
            <a:r>
              <a:rPr lang="en-US" sz="1400" b="1" dirty="0">
                <a:solidFill>
                  <a:srgbClr val="4B2B6E"/>
                </a:solidFill>
                <a:latin typeface="Calibri" pitchFamily="34" charset="0"/>
                <a:ea typeface="Calibri" pitchFamily="34" charset="-122"/>
                <a:cs typeface="Calibri" pitchFamily="34" charset="-120"/>
              </a:rPr>
              <a:t>Lift Weekday Margin</a:t>
            </a:r>
            <a:endParaRPr lang="en-US" sz="1400" dirty="0"/>
          </a:p>
        </p:txBody>
      </p:sp>
      <p:sp>
        <p:nvSpPr>
          <p:cNvPr id="29" name="Text 22"/>
          <p:cNvSpPr txBox="1"/>
          <p:nvPr/>
        </p:nvSpPr>
        <p:spPr>
          <a:xfrm>
            <a:off x="4480560" y="5120640"/>
            <a:ext cx="3063240" cy="640080"/>
          </a:xfrm>
          <a:prstGeom prst="rect">
            <a:avLst/>
          </a:prstGeom>
          <a:noFill/>
          <a:ln/>
        </p:spPr>
        <p:txBody>
          <a:bodyPr wrap="square" lIns="0" tIns="0" rIns="0" bIns="0" rtlCol="0" anchor="t"/>
          <a:lstStyle/>
          <a:p>
            <a:pPr indent="0" marL="0">
              <a:buNone/>
            </a:pPr>
            <a:r>
              <a:rPr lang="en-US" sz="1400" dirty="0">
                <a:solidFill>
                  <a:srgbClr val="6B5E7A"/>
                </a:solidFill>
                <a:latin typeface="Calibri" pitchFamily="34" charset="0"/>
                <a:ea typeface="Calibri" pitchFamily="34" charset="-122"/>
                <a:cs typeface="Calibri" pitchFamily="34" charset="-120"/>
              </a:rPr>
              <a:t>Weekday margin is 20% vs 31% at weekends; investigate pricing and costs.</a:t>
            </a:r>
            <a:endParaRPr lang="en-US" sz="1400" dirty="0"/>
          </a:p>
        </p:txBody>
      </p:sp>
      <p:sp>
        <p:nvSpPr>
          <p:cNvPr id="30" name="Shape 23"/>
          <p:cNvSpPr/>
          <p:nvPr/>
        </p:nvSpPr>
        <p:spPr>
          <a:xfrm>
            <a:off x="7955280" y="3858768"/>
            <a:ext cx="3520440" cy="1965960"/>
          </a:xfrm>
          <a:prstGeom prst="roundRect">
            <a:avLst>
              <a:gd name="adj" fmla="val 4651"/>
            </a:avLst>
          </a:prstGeom>
          <a:solidFill>
            <a:srgbClr val="FFFFFF"/>
          </a:solidFill>
          <a:ln w="12700">
            <a:solidFill>
              <a:srgbClr val="E4DBEE"/>
            </a:solidFill>
            <a:prstDash val="solid"/>
          </a:ln>
          <a:effectLst>
            <a:outerShdw sx="100000" sy="100000" kx="0" ky="0" algn="bl" rotWithShape="0" blurRad="76200" dist="25400" dir="5400000">
              <a:srgbClr val="9B8AAE">
                <a:alpha val="25000"/>
              </a:srgbClr>
            </a:outerShdw>
          </a:effectLst>
        </p:spPr>
      </p:sp>
      <p:sp>
        <p:nvSpPr>
          <p:cNvPr id="31" name="Shape 24"/>
          <p:cNvSpPr/>
          <p:nvPr/>
        </p:nvSpPr>
        <p:spPr>
          <a:xfrm>
            <a:off x="8183880" y="4087368"/>
            <a:ext cx="548640" cy="548640"/>
          </a:xfrm>
          <a:prstGeom prst="ellipse">
            <a:avLst/>
          </a:prstGeom>
          <a:solidFill>
            <a:srgbClr val="27AE60"/>
          </a:solidFill>
          <a:ln/>
        </p:spPr>
      </p:sp>
      <p:pic>
        <p:nvPicPr>
          <p:cNvPr id="32" name="Image 5" descr="icons/map.png">    </p:cNvPr>
          <p:cNvPicPr>
            <a:picLocks noChangeAspect="1"/>
          </p:cNvPicPr>
          <p:nvPr/>
        </p:nvPicPr>
        <p:blipFill>
          <a:blip r:embed="rId6"/>
          <a:stretch>
            <a:fillRect/>
          </a:stretch>
        </p:blipFill>
        <p:spPr>
          <a:xfrm>
            <a:off x="8307324" y="4210812"/>
            <a:ext cx="301752" cy="301752"/>
          </a:xfrm>
          <a:prstGeom prst="rect">
            <a:avLst/>
          </a:prstGeom>
        </p:spPr>
      </p:pic>
      <p:sp>
        <p:nvSpPr>
          <p:cNvPr id="33" name="Text 25"/>
          <p:cNvSpPr txBox="1"/>
          <p:nvPr/>
        </p:nvSpPr>
        <p:spPr>
          <a:xfrm>
            <a:off x="8183880" y="4754880"/>
            <a:ext cx="3063240" cy="365760"/>
          </a:xfrm>
          <a:prstGeom prst="rect">
            <a:avLst/>
          </a:prstGeom>
          <a:noFill/>
          <a:ln/>
        </p:spPr>
        <p:txBody>
          <a:bodyPr wrap="square" lIns="0" tIns="0" rIns="0" bIns="0" rtlCol="0" anchor="ctr"/>
          <a:lstStyle/>
          <a:p>
            <a:pPr indent="0" marL="0">
              <a:buNone/>
            </a:pPr>
            <a:r>
              <a:rPr lang="en-US" sz="1400" b="1" dirty="0">
                <a:solidFill>
                  <a:srgbClr val="4B2B6E"/>
                </a:solidFill>
                <a:latin typeface="Calibri" pitchFamily="34" charset="0"/>
                <a:ea typeface="Calibri" pitchFamily="34" charset="-122"/>
                <a:cs typeface="Calibri" pitchFamily="34" charset="-120"/>
              </a:rPr>
              <a:t>Replicate the South Playbook</a:t>
            </a:r>
            <a:endParaRPr lang="en-US" sz="1400" dirty="0"/>
          </a:p>
        </p:txBody>
      </p:sp>
      <p:sp>
        <p:nvSpPr>
          <p:cNvPr id="34" name="Text 26"/>
          <p:cNvSpPr txBox="1"/>
          <p:nvPr/>
        </p:nvSpPr>
        <p:spPr>
          <a:xfrm>
            <a:off x="8183880" y="5120640"/>
            <a:ext cx="3063240" cy="640080"/>
          </a:xfrm>
          <a:prstGeom prst="rect">
            <a:avLst/>
          </a:prstGeom>
          <a:noFill/>
          <a:ln/>
        </p:spPr>
        <p:txBody>
          <a:bodyPr wrap="square" lIns="0" tIns="0" rIns="0" bIns="0" rtlCol="0" anchor="t"/>
          <a:lstStyle/>
          <a:p>
            <a:pPr indent="0" marL="0">
              <a:buNone/>
            </a:pPr>
            <a:r>
              <a:rPr lang="en-US" sz="1400" dirty="0">
                <a:solidFill>
                  <a:srgbClr val="6B5E7A"/>
                </a:solidFill>
                <a:latin typeface="Calibri" pitchFamily="34" charset="0"/>
                <a:ea typeface="Calibri" pitchFamily="34" charset="-122"/>
                <a:cs typeface="Calibri" pitchFamily="34" charset="-120"/>
              </a:rPr>
              <a:t>South sells ~₹20.5k per store vs ₹4.2k in East; learn from South.</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2026-09-02T09:41:20Z</dcterms:created>
  <dcterms:modified xsi:type="dcterms:W3CDTF">2026-09-02T09:41:20Z</dcterms:modified>
</cp:coreProperties>
</file>